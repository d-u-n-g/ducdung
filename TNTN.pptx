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Lst>
  <p:sldSz cx="18288000" cy="10287000"/>
  <p:notesSz cx="6858000" cy="9144000"/>
  <p:embeddedFontLst>
    <p:embeddedFont>
      <p:font typeface="Bungee" panose="020B0604020202020204" charset="0"/>
      <p:regular r:id="rId5"/>
    </p:embeddedFont>
    <p:embeddedFont>
      <p:font typeface="Calibri" panose="020F0502020204030204" pitchFamily="34" charset="0"/>
      <p:regular r:id="rId6"/>
      <p:bold r:id="rId7"/>
      <p:italic r:id="rId8"/>
      <p:boldItalic r:id="rId9"/>
    </p:embeddedFont>
    <p:embeddedFont>
      <p:font typeface="Poppins Bold" panose="020B0604020202020204" charset="0"/>
      <p:regular r:id="rId10"/>
    </p:embeddedFont>
    <p:embeddedFont>
      <p:font typeface="Times New Roman Bold" panose="02020803070505020304" pitchFamily="18" charset="0"/>
      <p:regular r:id="rId11"/>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font" Target="fonts/font5.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3.pn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4.svg"/><Relationship Id="rId9"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59" y="-1337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1" r="-111"/>
            </a:stretch>
          </a:blipFill>
        </p:spPr>
        <p:txBody>
          <a:bodyPr/>
          <a:lstStyle/>
          <a:p>
            <a:endParaRPr lang="en-US" dirty="0"/>
          </a:p>
        </p:txBody>
      </p:sp>
      <p:sp>
        <p:nvSpPr>
          <p:cNvPr id="3" name="Freeform 3"/>
          <p:cNvSpPr/>
          <p:nvPr/>
        </p:nvSpPr>
        <p:spPr>
          <a:xfrm>
            <a:off x="6346149" y="2824735"/>
            <a:ext cx="7096447" cy="4221162"/>
          </a:xfrm>
          <a:custGeom>
            <a:avLst/>
            <a:gdLst/>
            <a:ahLst/>
            <a:cxnLst/>
            <a:rect l="l" t="t" r="r" b="b"/>
            <a:pathLst>
              <a:path w="7096447" h="4221162">
                <a:moveTo>
                  <a:pt x="0" y="0"/>
                </a:moveTo>
                <a:lnTo>
                  <a:pt x="7096447" y="0"/>
                </a:lnTo>
                <a:lnTo>
                  <a:pt x="7096447" y="4221162"/>
                </a:lnTo>
                <a:lnTo>
                  <a:pt x="0" y="4221162"/>
                </a:lnTo>
                <a:lnTo>
                  <a:pt x="0" y="0"/>
                </a:lnTo>
                <a:close/>
              </a:path>
            </a:pathLst>
          </a:custGeom>
          <a:blipFill>
            <a:blip r:embed="rId3"/>
            <a:stretch>
              <a:fillRect/>
            </a:stretch>
          </a:blipFill>
        </p:spPr>
        <p:txBody>
          <a:bodyPr/>
          <a:lstStyle/>
          <a:p>
            <a:endParaRPr lang="en-US" dirty="0"/>
          </a:p>
        </p:txBody>
      </p:sp>
      <p:grpSp>
        <p:nvGrpSpPr>
          <p:cNvPr id="4" name="Group 4"/>
          <p:cNvGrpSpPr/>
          <p:nvPr/>
        </p:nvGrpSpPr>
        <p:grpSpPr>
          <a:xfrm>
            <a:off x="1028700" y="3593877"/>
            <a:ext cx="6441816" cy="1120991"/>
            <a:chOff x="0" y="0"/>
            <a:chExt cx="1696610" cy="295240"/>
          </a:xfrm>
        </p:grpSpPr>
        <p:sp>
          <p:nvSpPr>
            <p:cNvPr id="5" name="Freeform 5"/>
            <p:cNvSpPr/>
            <p:nvPr/>
          </p:nvSpPr>
          <p:spPr>
            <a:xfrm>
              <a:off x="0" y="0"/>
              <a:ext cx="1696610" cy="295240"/>
            </a:xfrm>
            <a:custGeom>
              <a:avLst/>
              <a:gdLst/>
              <a:ahLst/>
              <a:cxnLst/>
              <a:rect l="l" t="t" r="r" b="b"/>
              <a:pathLst>
                <a:path w="1696610" h="295240">
                  <a:moveTo>
                    <a:pt x="61293" y="0"/>
                  </a:moveTo>
                  <a:lnTo>
                    <a:pt x="1635317" y="0"/>
                  </a:lnTo>
                  <a:cubicBezTo>
                    <a:pt x="1669168" y="0"/>
                    <a:pt x="1696610" y="27442"/>
                    <a:pt x="1696610" y="61293"/>
                  </a:cubicBezTo>
                  <a:lnTo>
                    <a:pt x="1696610" y="233947"/>
                  </a:lnTo>
                  <a:cubicBezTo>
                    <a:pt x="1696610" y="250203"/>
                    <a:pt x="1690152" y="265793"/>
                    <a:pt x="1678658" y="277288"/>
                  </a:cubicBezTo>
                  <a:cubicBezTo>
                    <a:pt x="1667163" y="288783"/>
                    <a:pt x="1651573" y="295240"/>
                    <a:pt x="1635317" y="295240"/>
                  </a:cubicBezTo>
                  <a:lnTo>
                    <a:pt x="61293" y="295240"/>
                  </a:lnTo>
                  <a:cubicBezTo>
                    <a:pt x="27442" y="295240"/>
                    <a:pt x="0" y="267799"/>
                    <a:pt x="0" y="233947"/>
                  </a:cubicBezTo>
                  <a:lnTo>
                    <a:pt x="0" y="61293"/>
                  </a:lnTo>
                  <a:cubicBezTo>
                    <a:pt x="0" y="27442"/>
                    <a:pt x="27442" y="0"/>
                    <a:pt x="61293" y="0"/>
                  </a:cubicBezTo>
                  <a:close/>
                </a:path>
              </a:pathLst>
            </a:custGeom>
            <a:solidFill>
              <a:srgbClr val="FFFFFF">
                <a:alpha val="49804"/>
              </a:srgbClr>
            </a:solidFill>
            <a:ln w="47625" cap="rnd">
              <a:solidFill>
                <a:srgbClr val="3780C0">
                  <a:alpha val="49804"/>
                </a:srgbClr>
              </a:solidFill>
              <a:prstDash val="solid"/>
              <a:round/>
            </a:ln>
          </p:spPr>
        </p:sp>
        <p:sp>
          <p:nvSpPr>
            <p:cNvPr id="6" name="TextBox 6"/>
            <p:cNvSpPr txBox="1"/>
            <p:nvPr/>
          </p:nvSpPr>
          <p:spPr>
            <a:xfrm>
              <a:off x="0" y="-38100"/>
              <a:ext cx="1696610" cy="33334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a:off x="9944100" y="994618"/>
            <a:ext cx="7315200" cy="2354164"/>
          </a:xfrm>
          <a:custGeom>
            <a:avLst/>
            <a:gdLst/>
            <a:ahLst/>
            <a:cxnLst/>
            <a:rect l="l" t="t" r="r" b="b"/>
            <a:pathLst>
              <a:path w="7315200" h="2354164">
                <a:moveTo>
                  <a:pt x="0" y="0"/>
                </a:moveTo>
                <a:lnTo>
                  <a:pt x="7315200" y="0"/>
                </a:lnTo>
                <a:lnTo>
                  <a:pt x="7315200" y="2354164"/>
                </a:lnTo>
                <a:lnTo>
                  <a:pt x="0" y="23541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1028700" y="4932741"/>
            <a:ext cx="13616395" cy="4114800"/>
            <a:chOff x="0" y="0"/>
            <a:chExt cx="3586211" cy="1083733"/>
          </a:xfrm>
        </p:grpSpPr>
        <p:sp>
          <p:nvSpPr>
            <p:cNvPr id="9" name="Freeform 9"/>
            <p:cNvSpPr/>
            <p:nvPr/>
          </p:nvSpPr>
          <p:spPr>
            <a:xfrm>
              <a:off x="0" y="0"/>
              <a:ext cx="3586211" cy="1083733"/>
            </a:xfrm>
            <a:custGeom>
              <a:avLst/>
              <a:gdLst/>
              <a:ahLst/>
              <a:cxnLst/>
              <a:rect l="l" t="t" r="r" b="b"/>
              <a:pathLst>
                <a:path w="3586211" h="1083733">
                  <a:moveTo>
                    <a:pt x="28997" y="0"/>
                  </a:moveTo>
                  <a:lnTo>
                    <a:pt x="3557214" y="0"/>
                  </a:lnTo>
                  <a:cubicBezTo>
                    <a:pt x="3564904" y="0"/>
                    <a:pt x="3572280" y="3055"/>
                    <a:pt x="3577718" y="8493"/>
                  </a:cubicBezTo>
                  <a:cubicBezTo>
                    <a:pt x="3583156" y="13931"/>
                    <a:pt x="3586211" y="21307"/>
                    <a:pt x="3586211" y="28997"/>
                  </a:cubicBezTo>
                  <a:lnTo>
                    <a:pt x="3586211" y="1054736"/>
                  </a:lnTo>
                  <a:cubicBezTo>
                    <a:pt x="3586211" y="1062427"/>
                    <a:pt x="3583156" y="1069802"/>
                    <a:pt x="3577718" y="1075240"/>
                  </a:cubicBezTo>
                  <a:cubicBezTo>
                    <a:pt x="3572280" y="1080678"/>
                    <a:pt x="3564904" y="1083733"/>
                    <a:pt x="3557214" y="1083733"/>
                  </a:cubicBezTo>
                  <a:lnTo>
                    <a:pt x="28997" y="1083733"/>
                  </a:lnTo>
                  <a:cubicBezTo>
                    <a:pt x="21307" y="1083733"/>
                    <a:pt x="13931" y="1080678"/>
                    <a:pt x="8493" y="1075240"/>
                  </a:cubicBezTo>
                  <a:cubicBezTo>
                    <a:pt x="3055" y="1069802"/>
                    <a:pt x="0" y="1062427"/>
                    <a:pt x="0" y="1054736"/>
                  </a:cubicBezTo>
                  <a:lnTo>
                    <a:pt x="0" y="28997"/>
                  </a:lnTo>
                  <a:cubicBezTo>
                    <a:pt x="0" y="21307"/>
                    <a:pt x="3055" y="13931"/>
                    <a:pt x="8493" y="8493"/>
                  </a:cubicBezTo>
                  <a:cubicBezTo>
                    <a:pt x="13931" y="3055"/>
                    <a:pt x="21307" y="0"/>
                    <a:pt x="28997" y="0"/>
                  </a:cubicBezTo>
                  <a:close/>
                </a:path>
              </a:pathLst>
            </a:custGeom>
            <a:solidFill>
              <a:srgbClr val="FFFFFF">
                <a:alpha val="49804"/>
              </a:srgbClr>
            </a:solidFill>
            <a:ln w="47625" cap="rnd">
              <a:solidFill>
                <a:srgbClr val="3780C0">
                  <a:alpha val="49804"/>
                </a:srgbClr>
              </a:solidFill>
              <a:prstDash val="solid"/>
              <a:round/>
            </a:ln>
          </p:spPr>
        </p:sp>
        <p:sp>
          <p:nvSpPr>
            <p:cNvPr id="10" name="TextBox 10"/>
            <p:cNvSpPr txBox="1"/>
            <p:nvPr/>
          </p:nvSpPr>
          <p:spPr>
            <a:xfrm>
              <a:off x="0" y="-76200"/>
              <a:ext cx="3586211" cy="1159933"/>
            </a:xfrm>
            <a:prstGeom prst="rect">
              <a:avLst/>
            </a:prstGeom>
          </p:spPr>
          <p:txBody>
            <a:bodyPr lIns="50800" tIns="50800" rIns="50800" bIns="50800" rtlCol="0" anchor="ctr"/>
            <a:lstStyle/>
            <a:p>
              <a:pPr algn="ctr">
                <a:lnSpc>
                  <a:spcPts val="3919"/>
                </a:lnSpc>
                <a:spcBef>
                  <a:spcPct val="0"/>
                </a:spcBef>
              </a:pPr>
              <a:endParaRPr/>
            </a:p>
          </p:txBody>
        </p:sp>
      </p:grpSp>
      <p:sp>
        <p:nvSpPr>
          <p:cNvPr id="11" name="Freeform 11"/>
          <p:cNvSpPr/>
          <p:nvPr/>
        </p:nvSpPr>
        <p:spPr>
          <a:xfrm>
            <a:off x="8505905" y="9265415"/>
            <a:ext cx="788127" cy="788127"/>
          </a:xfrm>
          <a:custGeom>
            <a:avLst/>
            <a:gdLst/>
            <a:ahLst/>
            <a:cxnLst/>
            <a:rect l="l" t="t" r="r" b="b"/>
            <a:pathLst>
              <a:path w="788127" h="788127">
                <a:moveTo>
                  <a:pt x="0" y="0"/>
                </a:moveTo>
                <a:lnTo>
                  <a:pt x="788127" y="0"/>
                </a:lnTo>
                <a:lnTo>
                  <a:pt x="788127" y="788127"/>
                </a:lnTo>
                <a:lnTo>
                  <a:pt x="0" y="7881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4407904" y="9265415"/>
            <a:ext cx="788127" cy="788127"/>
          </a:xfrm>
          <a:custGeom>
            <a:avLst/>
            <a:gdLst/>
            <a:ahLst/>
            <a:cxnLst/>
            <a:rect l="l" t="t" r="r" b="b"/>
            <a:pathLst>
              <a:path w="788127" h="788127">
                <a:moveTo>
                  <a:pt x="0" y="0"/>
                </a:moveTo>
                <a:lnTo>
                  <a:pt x="788127" y="0"/>
                </a:lnTo>
                <a:lnTo>
                  <a:pt x="788127" y="788127"/>
                </a:lnTo>
                <a:lnTo>
                  <a:pt x="0" y="78812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269801" y="9265415"/>
            <a:ext cx="758899" cy="758899"/>
          </a:xfrm>
          <a:custGeom>
            <a:avLst/>
            <a:gdLst/>
            <a:ahLst/>
            <a:cxnLst/>
            <a:rect l="l" t="t" r="r" b="b"/>
            <a:pathLst>
              <a:path w="758899" h="758899">
                <a:moveTo>
                  <a:pt x="0" y="0"/>
                </a:moveTo>
                <a:lnTo>
                  <a:pt x="758899" y="0"/>
                </a:lnTo>
                <a:lnTo>
                  <a:pt x="758899" y="758899"/>
                </a:lnTo>
                <a:lnTo>
                  <a:pt x="0" y="75889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838200" y="1239459"/>
            <a:ext cx="7315200" cy="1250342"/>
          </a:xfrm>
          <a:prstGeom prst="rect">
            <a:avLst/>
          </a:prstGeom>
        </p:spPr>
        <p:txBody>
          <a:bodyPr wrap="square" lIns="0" tIns="0" rIns="0" bIns="0" rtlCol="0" anchor="t">
            <a:spAutoFit/>
          </a:bodyPr>
          <a:lstStyle/>
          <a:p>
            <a:pPr algn="l">
              <a:lnSpc>
                <a:spcPts val="9000"/>
              </a:lnSpc>
            </a:pPr>
            <a:r>
              <a:rPr lang="en-US" sz="10000" spc="-840" dirty="0">
                <a:solidFill>
                  <a:schemeClr val="accent1">
                    <a:lumMod val="50000"/>
                  </a:schemeClr>
                </a:solidFill>
                <a:latin typeface="Bungee"/>
                <a:ea typeface="Bungee"/>
                <a:cs typeface="Bungee"/>
                <a:sym typeface="Bungee"/>
              </a:rPr>
              <a:t>CLB TNTN</a:t>
            </a:r>
          </a:p>
        </p:txBody>
      </p:sp>
      <p:sp>
        <p:nvSpPr>
          <p:cNvPr id="15" name="TextBox 15"/>
          <p:cNvSpPr txBox="1"/>
          <p:nvPr/>
        </p:nvSpPr>
        <p:spPr>
          <a:xfrm>
            <a:off x="4877614" y="2484911"/>
            <a:ext cx="11352986" cy="1250342"/>
          </a:xfrm>
          <a:prstGeom prst="rect">
            <a:avLst/>
          </a:prstGeom>
        </p:spPr>
        <p:txBody>
          <a:bodyPr wrap="square" lIns="0" tIns="0" rIns="0" bIns="0" rtlCol="0" anchor="t">
            <a:spAutoFit/>
          </a:bodyPr>
          <a:lstStyle/>
          <a:p>
            <a:pPr algn="l">
              <a:lnSpc>
                <a:spcPts val="9000"/>
              </a:lnSpc>
            </a:pPr>
            <a:r>
              <a:rPr lang="en-US" sz="10000" spc="-840" dirty="0">
                <a:solidFill>
                  <a:schemeClr val="accent1">
                    <a:lumMod val="50000"/>
                  </a:schemeClr>
                </a:solidFill>
                <a:latin typeface="Bungee"/>
                <a:ea typeface="Bungee"/>
                <a:cs typeface="Bungee"/>
                <a:sym typeface="Bungee"/>
              </a:rPr>
              <a:t>TRƯỜNG CNTT &amp; TT</a:t>
            </a:r>
          </a:p>
        </p:txBody>
      </p:sp>
      <p:sp>
        <p:nvSpPr>
          <p:cNvPr id="16" name="TextBox 16"/>
          <p:cNvSpPr txBox="1"/>
          <p:nvPr/>
        </p:nvSpPr>
        <p:spPr>
          <a:xfrm>
            <a:off x="1510810" y="3803535"/>
            <a:ext cx="3213589" cy="576504"/>
          </a:xfrm>
          <a:prstGeom prst="rect">
            <a:avLst/>
          </a:prstGeom>
        </p:spPr>
        <p:txBody>
          <a:bodyPr wrap="square" lIns="0" tIns="0" rIns="0" bIns="0" rtlCol="0" anchor="t">
            <a:spAutoFit/>
          </a:bodyPr>
          <a:lstStyle/>
          <a:p>
            <a:pPr marL="0" lvl="0" indent="0" algn="ctr">
              <a:lnSpc>
                <a:spcPts val="4899"/>
              </a:lnSpc>
              <a:spcBef>
                <a:spcPct val="0"/>
              </a:spcBef>
            </a:pPr>
            <a:r>
              <a:rPr lang="en-US" sz="3499" b="1" dirty="0" err="1">
                <a:solidFill>
                  <a:srgbClr val="01184E"/>
                </a:solidFill>
                <a:latin typeface="Times New Roman Bold"/>
                <a:ea typeface="Times New Roman Bold"/>
                <a:cs typeface="Times New Roman Bold"/>
                <a:sym typeface="Times New Roman Bold"/>
              </a:rPr>
              <a:t>Ngày</a:t>
            </a:r>
            <a:r>
              <a:rPr lang="en-US" sz="3499" b="1" dirty="0">
                <a:solidFill>
                  <a:srgbClr val="01184E"/>
                </a:solidFill>
                <a:latin typeface="Times New Roman Bold"/>
                <a:ea typeface="Times New Roman Bold"/>
                <a:cs typeface="Times New Roman Bold"/>
                <a:sym typeface="Times New Roman Bold"/>
              </a:rPr>
              <a:t> </a:t>
            </a:r>
            <a:r>
              <a:rPr lang="en-US" sz="3499" b="1" dirty="0" err="1">
                <a:solidFill>
                  <a:srgbClr val="01184E"/>
                </a:solidFill>
                <a:latin typeface="Times New Roman Bold"/>
                <a:ea typeface="Times New Roman Bold"/>
                <a:cs typeface="Times New Roman Bold"/>
                <a:sym typeface="Times New Roman Bold"/>
              </a:rPr>
              <a:t>thành</a:t>
            </a:r>
            <a:r>
              <a:rPr lang="vi-VN" sz="3499" b="1" dirty="0">
                <a:solidFill>
                  <a:srgbClr val="01184E"/>
                </a:solidFill>
                <a:latin typeface="Times New Roman Bold"/>
                <a:ea typeface="Times New Roman Bold"/>
                <a:cs typeface="Times New Roman Bold"/>
                <a:sym typeface="Times New Roman Bold"/>
              </a:rPr>
              <a:t> </a:t>
            </a:r>
            <a:r>
              <a:rPr lang="en-US" sz="3499" b="1" dirty="0" err="1">
                <a:solidFill>
                  <a:srgbClr val="01184E"/>
                </a:solidFill>
                <a:latin typeface="Times New Roman Bold"/>
                <a:ea typeface="Times New Roman Bold"/>
                <a:cs typeface="Times New Roman Bold"/>
                <a:sym typeface="Times New Roman Bold"/>
              </a:rPr>
              <a:t>lập</a:t>
            </a:r>
            <a:r>
              <a:rPr lang="en-US" sz="3499" b="1" dirty="0">
                <a:solidFill>
                  <a:srgbClr val="01184E"/>
                </a:solidFill>
                <a:latin typeface="Times New Roman Bold"/>
                <a:ea typeface="Times New Roman Bold"/>
                <a:cs typeface="Times New Roman Bold"/>
                <a:sym typeface="Times New Roman Bold"/>
              </a:rPr>
              <a:t>:</a:t>
            </a:r>
          </a:p>
        </p:txBody>
      </p:sp>
      <p:sp>
        <p:nvSpPr>
          <p:cNvPr id="17" name="TextBox 17"/>
          <p:cNvSpPr txBox="1"/>
          <p:nvPr/>
        </p:nvSpPr>
        <p:spPr>
          <a:xfrm>
            <a:off x="4877614" y="3803535"/>
            <a:ext cx="2208985" cy="576504"/>
          </a:xfrm>
          <a:prstGeom prst="rect">
            <a:avLst/>
          </a:prstGeom>
        </p:spPr>
        <p:txBody>
          <a:bodyPr wrap="square" lIns="0" tIns="0" rIns="0" bIns="0" rtlCol="0" anchor="t">
            <a:spAutoFit/>
          </a:bodyPr>
          <a:lstStyle/>
          <a:p>
            <a:pPr marL="0" lvl="0" indent="0" algn="ctr">
              <a:lnSpc>
                <a:spcPts val="4899"/>
              </a:lnSpc>
              <a:spcBef>
                <a:spcPct val="0"/>
              </a:spcBef>
            </a:pPr>
            <a:r>
              <a:rPr lang="en-US" sz="3499" b="1" dirty="0">
                <a:solidFill>
                  <a:srgbClr val="01184E"/>
                </a:solidFill>
                <a:latin typeface="Times New Roman Bold"/>
                <a:ea typeface="Times New Roman Bold"/>
                <a:cs typeface="Times New Roman Bold"/>
                <a:sym typeface="Times New Roman Bold"/>
              </a:rPr>
              <a:t>05/12/2008</a:t>
            </a:r>
          </a:p>
        </p:txBody>
      </p:sp>
      <p:sp>
        <p:nvSpPr>
          <p:cNvPr id="18" name="TextBox 18"/>
          <p:cNvSpPr txBox="1"/>
          <p:nvPr/>
        </p:nvSpPr>
        <p:spPr>
          <a:xfrm>
            <a:off x="1102978" y="9363055"/>
            <a:ext cx="6367538"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04078"/>
                </a:solidFill>
                <a:latin typeface="Poppins Bold"/>
                <a:ea typeface="Poppins Bold"/>
                <a:cs typeface="Poppins Bold"/>
                <a:sym typeface="Poppins Bold"/>
              </a:rPr>
              <a:t>Đội TNTN trường CNTT&amp;TT - HaUI</a:t>
            </a:r>
          </a:p>
        </p:txBody>
      </p:sp>
      <p:sp>
        <p:nvSpPr>
          <p:cNvPr id="19" name="TextBox 19"/>
          <p:cNvSpPr txBox="1"/>
          <p:nvPr/>
        </p:nvSpPr>
        <p:spPr>
          <a:xfrm>
            <a:off x="9294032" y="9390874"/>
            <a:ext cx="4408110"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04078"/>
                </a:solidFill>
                <a:latin typeface="Poppins Bold"/>
                <a:ea typeface="Poppins Bold"/>
                <a:cs typeface="Poppins Bold"/>
                <a:sym typeface="Poppins Bold"/>
              </a:rPr>
              <a:t>tntn@fit-haui.edu.vn</a:t>
            </a:r>
          </a:p>
        </p:txBody>
      </p:sp>
      <p:sp>
        <p:nvSpPr>
          <p:cNvPr id="20" name="TextBox 20"/>
          <p:cNvSpPr txBox="1"/>
          <p:nvPr/>
        </p:nvSpPr>
        <p:spPr>
          <a:xfrm>
            <a:off x="15196031" y="9363055"/>
            <a:ext cx="2545443"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04078"/>
                </a:solidFill>
                <a:latin typeface="Poppins Bold"/>
                <a:ea typeface="Poppins Bold"/>
                <a:cs typeface="Poppins Bold"/>
                <a:sym typeface="Poppins Bold"/>
              </a:rPr>
              <a:t>0374042032</a:t>
            </a:r>
          </a:p>
        </p:txBody>
      </p:sp>
      <p:sp>
        <p:nvSpPr>
          <p:cNvPr id="21" name="TextBox 21"/>
          <p:cNvSpPr txBox="1"/>
          <p:nvPr/>
        </p:nvSpPr>
        <p:spPr>
          <a:xfrm>
            <a:off x="1174867" y="5279435"/>
            <a:ext cx="13324061" cy="3335687"/>
          </a:xfrm>
          <a:prstGeom prst="rect">
            <a:avLst/>
          </a:prstGeom>
        </p:spPr>
        <p:txBody>
          <a:bodyPr lIns="0" tIns="0" rIns="0" bIns="0" rtlCol="0" anchor="t">
            <a:spAutoFit/>
          </a:bodyPr>
          <a:lstStyle/>
          <a:p>
            <a:pPr marL="0" lvl="0" indent="0" algn="ctr">
              <a:lnSpc>
                <a:spcPts val="4421"/>
              </a:lnSpc>
              <a:spcBef>
                <a:spcPct val="0"/>
              </a:spcBef>
            </a:pPr>
            <a:r>
              <a:rPr lang="en-US" sz="3158" b="1">
                <a:solidFill>
                  <a:srgbClr val="01184E"/>
                </a:solidFill>
                <a:latin typeface="Times New Roman Bold"/>
                <a:ea typeface="Times New Roman Bold"/>
                <a:cs typeface="Times New Roman Bold"/>
                <a:sym typeface="Times New Roman Bold"/>
              </a:rPr>
              <a:t>CLB được thành lập với mục đích mang đến một môi trường năng động, nơi sinh viên có chung niềm đam mê với các hoạt động xã hội. Đây cũng là nơi các bạn được giao lưu, học hỏi kinh nghiệm của nhau; được rèn luyện các kỹ năng cần thiết và cùng nhau tổ chức các hoạt động mang ý nghĩa thiết thực đúng với tinh thần và khẩu hiệu của câu lạc bộ: "MUỐN ĐI NHANH HÃY ĐI MỘT MÌNH, MUỐN ĐI XA HÃY ĐI CÙNG CLB TNTN"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1" r="-111"/>
            </a:stretch>
          </a:blipFill>
        </p:spPr>
      </p:sp>
      <p:grpSp>
        <p:nvGrpSpPr>
          <p:cNvPr id="3" name="Group 3"/>
          <p:cNvGrpSpPr/>
          <p:nvPr/>
        </p:nvGrpSpPr>
        <p:grpSpPr>
          <a:xfrm>
            <a:off x="-1545380" y="7933933"/>
            <a:ext cx="4732919" cy="4706133"/>
            <a:chOff x="0" y="0"/>
            <a:chExt cx="6310559" cy="6274844"/>
          </a:xfrm>
        </p:grpSpPr>
        <p:sp>
          <p:nvSpPr>
            <p:cNvPr id="4" name="Freeform 4"/>
            <p:cNvSpPr/>
            <p:nvPr/>
          </p:nvSpPr>
          <p:spPr>
            <a:xfrm rot="2491013">
              <a:off x="822439" y="1012416"/>
              <a:ext cx="4665682" cy="4250012"/>
            </a:xfrm>
            <a:custGeom>
              <a:avLst/>
              <a:gdLst/>
              <a:ahLst/>
              <a:cxnLst/>
              <a:rect l="l" t="t" r="r" b="b"/>
              <a:pathLst>
                <a:path w="4665682" h="4250012">
                  <a:moveTo>
                    <a:pt x="0" y="0"/>
                  </a:moveTo>
                  <a:lnTo>
                    <a:pt x="4665681" y="0"/>
                  </a:lnTo>
                  <a:lnTo>
                    <a:pt x="4665681" y="4250012"/>
                  </a:lnTo>
                  <a:lnTo>
                    <a:pt x="0" y="42500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a:off x="3993093" y="2993567"/>
              <a:ext cx="590374" cy="590374"/>
              <a:chOff x="0" y="0"/>
              <a:chExt cx="337820" cy="337820"/>
            </a:xfrm>
          </p:grpSpPr>
          <p:sp>
            <p:nvSpPr>
              <p:cNvPr id="6" name="Freeform 6"/>
              <p:cNvSpPr/>
              <p:nvPr/>
            </p:nvSpPr>
            <p:spPr>
              <a:xfrm>
                <a:off x="50800" y="48657"/>
                <a:ext cx="232531" cy="238604"/>
              </a:xfrm>
              <a:custGeom>
                <a:avLst/>
                <a:gdLst/>
                <a:ahLst/>
                <a:cxnLst/>
                <a:rect l="l" t="t" r="r" b="b"/>
                <a:pathLst>
                  <a:path w="232531" h="238604">
                    <a:moveTo>
                      <a:pt x="232410" y="83423"/>
                    </a:moveTo>
                    <a:cubicBezTo>
                      <a:pt x="233680" y="158353"/>
                      <a:pt x="224790" y="177403"/>
                      <a:pt x="213360" y="192643"/>
                    </a:cubicBezTo>
                    <a:cubicBezTo>
                      <a:pt x="201930" y="206613"/>
                      <a:pt x="185420" y="220583"/>
                      <a:pt x="167640" y="228203"/>
                    </a:cubicBezTo>
                    <a:cubicBezTo>
                      <a:pt x="151130" y="235823"/>
                      <a:pt x="130810" y="239633"/>
                      <a:pt x="111760" y="238363"/>
                    </a:cubicBezTo>
                    <a:cubicBezTo>
                      <a:pt x="93980" y="237093"/>
                      <a:pt x="73660" y="230743"/>
                      <a:pt x="57150" y="220583"/>
                    </a:cubicBezTo>
                    <a:cubicBezTo>
                      <a:pt x="41910" y="211693"/>
                      <a:pt x="26670" y="196453"/>
                      <a:pt x="17780" y="181213"/>
                    </a:cubicBezTo>
                    <a:cubicBezTo>
                      <a:pt x="7620" y="164703"/>
                      <a:pt x="1270" y="144383"/>
                      <a:pt x="0" y="126603"/>
                    </a:cubicBezTo>
                    <a:cubicBezTo>
                      <a:pt x="0" y="107553"/>
                      <a:pt x="3810" y="87233"/>
                      <a:pt x="10160" y="70723"/>
                    </a:cubicBezTo>
                    <a:cubicBezTo>
                      <a:pt x="17780" y="52943"/>
                      <a:pt x="31750" y="36433"/>
                      <a:pt x="45720" y="25003"/>
                    </a:cubicBezTo>
                    <a:cubicBezTo>
                      <a:pt x="60960" y="13573"/>
                      <a:pt x="80010" y="4683"/>
                      <a:pt x="97790" y="2143"/>
                    </a:cubicBezTo>
                    <a:cubicBezTo>
                      <a:pt x="115570" y="-1667"/>
                      <a:pt x="137160" y="-397"/>
                      <a:pt x="154940" y="5953"/>
                    </a:cubicBezTo>
                    <a:cubicBezTo>
                      <a:pt x="172720" y="11033"/>
                      <a:pt x="203200" y="35163"/>
                      <a:pt x="203200" y="35163"/>
                    </a:cubicBezTo>
                  </a:path>
                </a:pathLst>
              </a:custGeom>
              <a:solidFill>
                <a:srgbClr val="E36B24"/>
              </a:solidFill>
              <a:ln cap="sq">
                <a:noFill/>
                <a:prstDash val="solid"/>
                <a:miter/>
              </a:ln>
            </p:spPr>
          </p:sp>
        </p:grpSp>
      </p:grpSp>
      <p:grpSp>
        <p:nvGrpSpPr>
          <p:cNvPr id="7" name="Group 7"/>
          <p:cNvGrpSpPr/>
          <p:nvPr/>
        </p:nvGrpSpPr>
        <p:grpSpPr>
          <a:xfrm>
            <a:off x="821080" y="3557018"/>
            <a:ext cx="4666326" cy="6147052"/>
            <a:chOff x="0" y="0"/>
            <a:chExt cx="467363" cy="615510"/>
          </a:xfrm>
        </p:grpSpPr>
        <p:sp>
          <p:nvSpPr>
            <p:cNvPr id="8" name="Freeform 8"/>
            <p:cNvSpPr/>
            <p:nvPr/>
          </p:nvSpPr>
          <p:spPr>
            <a:xfrm>
              <a:off x="0" y="0"/>
              <a:ext cx="467363" cy="615510"/>
            </a:xfrm>
            <a:custGeom>
              <a:avLst/>
              <a:gdLst/>
              <a:ahLst/>
              <a:cxnLst/>
              <a:rect l="l" t="t" r="r" b="b"/>
              <a:pathLst>
                <a:path w="467363" h="615510">
                  <a:moveTo>
                    <a:pt x="467363" y="74660"/>
                  </a:moveTo>
                  <a:lnTo>
                    <a:pt x="467363" y="540850"/>
                  </a:lnTo>
                  <a:cubicBezTo>
                    <a:pt x="467363" y="582084"/>
                    <a:pt x="433937" y="615510"/>
                    <a:pt x="392703" y="615510"/>
                  </a:cubicBezTo>
                  <a:lnTo>
                    <a:pt x="74660" y="615510"/>
                  </a:lnTo>
                  <a:cubicBezTo>
                    <a:pt x="33426" y="615510"/>
                    <a:pt x="0" y="582084"/>
                    <a:pt x="0" y="540850"/>
                  </a:cubicBezTo>
                  <a:lnTo>
                    <a:pt x="0" y="74660"/>
                  </a:lnTo>
                  <a:cubicBezTo>
                    <a:pt x="0" y="33426"/>
                    <a:pt x="33426" y="0"/>
                    <a:pt x="74660" y="0"/>
                  </a:cubicBezTo>
                  <a:lnTo>
                    <a:pt x="392703" y="0"/>
                  </a:lnTo>
                  <a:cubicBezTo>
                    <a:pt x="412504" y="0"/>
                    <a:pt x="431494" y="7866"/>
                    <a:pt x="445496" y="21867"/>
                  </a:cubicBezTo>
                  <a:cubicBezTo>
                    <a:pt x="459497" y="35869"/>
                    <a:pt x="467363" y="54859"/>
                    <a:pt x="467363" y="74660"/>
                  </a:cubicBezTo>
                  <a:close/>
                </a:path>
              </a:pathLst>
            </a:custGeom>
            <a:solidFill>
              <a:srgbClr val="FFFFFF">
                <a:alpha val="49804"/>
              </a:srgbClr>
            </a:solidFill>
            <a:ln w="47625" cap="rnd">
              <a:solidFill>
                <a:srgbClr val="3780C0">
                  <a:alpha val="49804"/>
                </a:srgbClr>
              </a:solidFill>
              <a:prstDash val="solid"/>
              <a:round/>
            </a:ln>
          </p:spPr>
        </p:sp>
        <p:sp>
          <p:nvSpPr>
            <p:cNvPr id="9" name="TextBox 9"/>
            <p:cNvSpPr txBox="1"/>
            <p:nvPr/>
          </p:nvSpPr>
          <p:spPr>
            <a:xfrm>
              <a:off x="0" y="-38100"/>
              <a:ext cx="467363" cy="65361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16671896" y="-693567"/>
            <a:ext cx="3096345" cy="3200356"/>
            <a:chOff x="0" y="0"/>
            <a:chExt cx="4128460" cy="4267142"/>
          </a:xfrm>
        </p:grpSpPr>
        <p:sp>
          <p:nvSpPr>
            <p:cNvPr id="11" name="Freeform 11"/>
            <p:cNvSpPr/>
            <p:nvPr/>
          </p:nvSpPr>
          <p:spPr>
            <a:xfrm>
              <a:off x="0" y="0"/>
              <a:ext cx="4128460" cy="4267142"/>
            </a:xfrm>
            <a:custGeom>
              <a:avLst/>
              <a:gdLst/>
              <a:ahLst/>
              <a:cxnLst/>
              <a:rect l="l" t="t" r="r" b="b"/>
              <a:pathLst>
                <a:path w="4128460" h="4267142">
                  <a:moveTo>
                    <a:pt x="0" y="0"/>
                  </a:moveTo>
                  <a:lnTo>
                    <a:pt x="4128460" y="0"/>
                  </a:lnTo>
                  <a:lnTo>
                    <a:pt x="4128460" y="4267142"/>
                  </a:lnTo>
                  <a:lnTo>
                    <a:pt x="0" y="4267142"/>
                  </a:lnTo>
                  <a:lnTo>
                    <a:pt x="0" y="0"/>
                  </a:lnTo>
                  <a:close/>
                </a:path>
              </a:pathLst>
            </a:custGeom>
            <a:blipFill>
              <a:blip r:embed="rId5"/>
              <a:stretch>
                <a:fillRect/>
              </a:stretch>
            </a:blipFill>
          </p:spPr>
        </p:sp>
        <p:grpSp>
          <p:nvGrpSpPr>
            <p:cNvPr id="12" name="Group 12"/>
            <p:cNvGrpSpPr/>
            <p:nvPr/>
          </p:nvGrpSpPr>
          <p:grpSpPr>
            <a:xfrm>
              <a:off x="337271" y="2437326"/>
              <a:ext cx="337820" cy="337820"/>
              <a:chOff x="0" y="0"/>
              <a:chExt cx="337820" cy="337820"/>
            </a:xfrm>
          </p:grpSpPr>
          <p:sp>
            <p:nvSpPr>
              <p:cNvPr id="13" name="Freeform 13"/>
              <p:cNvSpPr/>
              <p:nvPr/>
            </p:nvSpPr>
            <p:spPr>
              <a:xfrm>
                <a:off x="50559" y="49530"/>
                <a:ext cx="232651" cy="237731"/>
              </a:xfrm>
              <a:custGeom>
                <a:avLst/>
                <a:gdLst/>
                <a:ahLst/>
                <a:cxnLst/>
                <a:rect l="l" t="t" r="r" b="b"/>
                <a:pathLst>
                  <a:path w="232651" h="237731">
                    <a:moveTo>
                      <a:pt x="232651" y="82550"/>
                    </a:moveTo>
                    <a:cubicBezTo>
                      <a:pt x="232651" y="158750"/>
                      <a:pt x="223761" y="177800"/>
                      <a:pt x="212331" y="191770"/>
                    </a:cubicBezTo>
                    <a:cubicBezTo>
                      <a:pt x="200901" y="207010"/>
                      <a:pt x="184391" y="219710"/>
                      <a:pt x="167881" y="227330"/>
                    </a:cubicBezTo>
                    <a:cubicBezTo>
                      <a:pt x="150101" y="234950"/>
                      <a:pt x="129781" y="238760"/>
                      <a:pt x="112001" y="237490"/>
                    </a:cubicBezTo>
                    <a:cubicBezTo>
                      <a:pt x="92951" y="236220"/>
                      <a:pt x="72631" y="229870"/>
                      <a:pt x="57391" y="220980"/>
                    </a:cubicBezTo>
                    <a:cubicBezTo>
                      <a:pt x="40881" y="210820"/>
                      <a:pt x="25641" y="195580"/>
                      <a:pt x="16751" y="180340"/>
                    </a:cubicBezTo>
                    <a:cubicBezTo>
                      <a:pt x="6591" y="163830"/>
                      <a:pt x="241" y="144780"/>
                      <a:pt x="241" y="125730"/>
                    </a:cubicBezTo>
                    <a:cubicBezTo>
                      <a:pt x="-1029" y="107950"/>
                      <a:pt x="2781" y="86360"/>
                      <a:pt x="10401" y="69850"/>
                    </a:cubicBezTo>
                    <a:cubicBezTo>
                      <a:pt x="18021" y="53340"/>
                      <a:pt x="30721" y="36830"/>
                      <a:pt x="44691" y="25400"/>
                    </a:cubicBezTo>
                    <a:cubicBezTo>
                      <a:pt x="59931" y="13970"/>
                      <a:pt x="78981" y="5080"/>
                      <a:pt x="96761" y="1270"/>
                    </a:cubicBezTo>
                    <a:cubicBezTo>
                      <a:pt x="115811" y="-1270"/>
                      <a:pt x="136131" y="0"/>
                      <a:pt x="153911" y="5080"/>
                    </a:cubicBezTo>
                    <a:cubicBezTo>
                      <a:pt x="171691" y="10160"/>
                      <a:pt x="202171" y="34290"/>
                      <a:pt x="202171" y="34290"/>
                    </a:cubicBezTo>
                  </a:path>
                </a:pathLst>
              </a:custGeom>
              <a:solidFill>
                <a:srgbClr val="FFFAE6"/>
              </a:solidFill>
              <a:ln cap="sq">
                <a:noFill/>
                <a:prstDash val="solid"/>
                <a:miter/>
              </a:ln>
            </p:spPr>
          </p:sp>
        </p:grpSp>
      </p:grpSp>
      <p:sp>
        <p:nvSpPr>
          <p:cNvPr id="14" name="Freeform 14"/>
          <p:cNvSpPr/>
          <p:nvPr/>
        </p:nvSpPr>
        <p:spPr>
          <a:xfrm>
            <a:off x="9356696" y="308818"/>
            <a:ext cx="7315200" cy="2354164"/>
          </a:xfrm>
          <a:custGeom>
            <a:avLst/>
            <a:gdLst/>
            <a:ahLst/>
            <a:cxnLst/>
            <a:rect l="l" t="t" r="r" b="b"/>
            <a:pathLst>
              <a:path w="7315200" h="2354164">
                <a:moveTo>
                  <a:pt x="0" y="0"/>
                </a:moveTo>
                <a:lnTo>
                  <a:pt x="7315200" y="0"/>
                </a:lnTo>
                <a:lnTo>
                  <a:pt x="7315200" y="2354164"/>
                </a:lnTo>
                <a:lnTo>
                  <a:pt x="0" y="235416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rot="1241985">
            <a:off x="16118363" y="6505296"/>
            <a:ext cx="3613213" cy="4359835"/>
          </a:xfrm>
          <a:custGeom>
            <a:avLst/>
            <a:gdLst/>
            <a:ahLst/>
            <a:cxnLst/>
            <a:rect l="l" t="t" r="r" b="b"/>
            <a:pathLst>
              <a:path w="3613213" h="4359835">
                <a:moveTo>
                  <a:pt x="0" y="0"/>
                </a:moveTo>
                <a:lnTo>
                  <a:pt x="3613213" y="0"/>
                </a:lnTo>
                <a:lnTo>
                  <a:pt x="3613213" y="4359835"/>
                </a:lnTo>
                <a:lnTo>
                  <a:pt x="0" y="4359835"/>
                </a:lnTo>
                <a:lnTo>
                  <a:pt x="0" y="0"/>
                </a:lnTo>
                <a:close/>
              </a:path>
            </a:pathLst>
          </a:custGeom>
          <a:blipFill>
            <a:blip r:embed="rId8"/>
            <a:stretch>
              <a:fillRect/>
            </a:stretch>
          </a:blipFill>
        </p:spPr>
      </p:sp>
      <p:grpSp>
        <p:nvGrpSpPr>
          <p:cNvPr id="16" name="Group 16"/>
          <p:cNvGrpSpPr/>
          <p:nvPr/>
        </p:nvGrpSpPr>
        <p:grpSpPr>
          <a:xfrm>
            <a:off x="13455968" y="9653588"/>
            <a:ext cx="111442" cy="108585"/>
            <a:chOff x="0" y="0"/>
            <a:chExt cx="148590" cy="144780"/>
          </a:xfrm>
        </p:grpSpPr>
        <p:sp>
          <p:nvSpPr>
            <p:cNvPr id="17" name="Freeform 17"/>
            <p:cNvSpPr/>
            <p:nvPr/>
          </p:nvSpPr>
          <p:spPr>
            <a:xfrm>
              <a:off x="48487" y="49054"/>
              <a:ext cx="48033" cy="40785"/>
            </a:xfrm>
            <a:custGeom>
              <a:avLst/>
              <a:gdLst/>
              <a:ahLst/>
              <a:cxnLst/>
              <a:rect l="l" t="t" r="r" b="b"/>
              <a:pathLst>
                <a:path w="48033" h="40785">
                  <a:moveTo>
                    <a:pt x="48033" y="14446"/>
                  </a:moveTo>
                  <a:cubicBezTo>
                    <a:pt x="26443" y="48736"/>
                    <a:pt x="6123" y="42386"/>
                    <a:pt x="2313" y="34766"/>
                  </a:cubicBezTo>
                  <a:cubicBezTo>
                    <a:pt x="-2767" y="28416"/>
                    <a:pt x="1043" y="6826"/>
                    <a:pt x="8663" y="1746"/>
                  </a:cubicBezTo>
                  <a:cubicBezTo>
                    <a:pt x="15013" y="-3334"/>
                    <a:pt x="41683" y="4286"/>
                    <a:pt x="41683" y="4286"/>
                  </a:cubicBezTo>
                </a:path>
              </a:pathLst>
            </a:custGeom>
            <a:solidFill>
              <a:srgbClr val="01184E"/>
            </a:solidFill>
            <a:ln cap="sq">
              <a:noFill/>
              <a:prstDash val="solid"/>
              <a:miter/>
            </a:ln>
          </p:spPr>
        </p:sp>
      </p:grpSp>
      <p:grpSp>
        <p:nvGrpSpPr>
          <p:cNvPr id="18" name="Group 18"/>
          <p:cNvGrpSpPr/>
          <p:nvPr/>
        </p:nvGrpSpPr>
        <p:grpSpPr>
          <a:xfrm>
            <a:off x="13427393" y="9704070"/>
            <a:ext cx="111442" cy="108585"/>
            <a:chOff x="0" y="0"/>
            <a:chExt cx="148590" cy="144780"/>
          </a:xfrm>
        </p:grpSpPr>
        <p:sp>
          <p:nvSpPr>
            <p:cNvPr id="19" name="Freeform 19"/>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1184E"/>
            </a:solidFill>
            <a:ln cap="sq">
              <a:noFill/>
              <a:prstDash val="solid"/>
              <a:miter/>
            </a:ln>
          </p:spPr>
        </p:sp>
      </p:grpSp>
      <p:grpSp>
        <p:nvGrpSpPr>
          <p:cNvPr id="20" name="Group 20"/>
          <p:cNvGrpSpPr/>
          <p:nvPr/>
        </p:nvGrpSpPr>
        <p:grpSpPr>
          <a:xfrm>
            <a:off x="821080" y="2059338"/>
            <a:ext cx="4532590" cy="894904"/>
            <a:chOff x="0" y="0"/>
            <a:chExt cx="580531" cy="114619"/>
          </a:xfrm>
        </p:grpSpPr>
        <p:sp>
          <p:nvSpPr>
            <p:cNvPr id="21" name="Freeform 21"/>
            <p:cNvSpPr/>
            <p:nvPr/>
          </p:nvSpPr>
          <p:spPr>
            <a:xfrm>
              <a:off x="0" y="0"/>
              <a:ext cx="580531" cy="114619"/>
            </a:xfrm>
            <a:custGeom>
              <a:avLst/>
              <a:gdLst/>
              <a:ahLst/>
              <a:cxnLst/>
              <a:rect l="l" t="t" r="r" b="b"/>
              <a:pathLst>
                <a:path w="580531" h="114619">
                  <a:moveTo>
                    <a:pt x="57309" y="0"/>
                  </a:moveTo>
                  <a:lnTo>
                    <a:pt x="523222" y="0"/>
                  </a:lnTo>
                  <a:cubicBezTo>
                    <a:pt x="554873" y="0"/>
                    <a:pt x="580531" y="25658"/>
                    <a:pt x="580531" y="57309"/>
                  </a:cubicBezTo>
                  <a:lnTo>
                    <a:pt x="580531" y="57309"/>
                  </a:lnTo>
                  <a:cubicBezTo>
                    <a:pt x="580531" y="88960"/>
                    <a:pt x="554873" y="114619"/>
                    <a:pt x="523222" y="114619"/>
                  </a:cubicBezTo>
                  <a:lnTo>
                    <a:pt x="57309" y="114619"/>
                  </a:lnTo>
                  <a:cubicBezTo>
                    <a:pt x="25658" y="114619"/>
                    <a:pt x="0" y="88960"/>
                    <a:pt x="0" y="57309"/>
                  </a:cubicBezTo>
                  <a:lnTo>
                    <a:pt x="0" y="57309"/>
                  </a:lnTo>
                  <a:cubicBezTo>
                    <a:pt x="0" y="25658"/>
                    <a:pt x="25658" y="0"/>
                    <a:pt x="57309" y="0"/>
                  </a:cubicBezTo>
                  <a:close/>
                </a:path>
              </a:pathLst>
            </a:custGeom>
            <a:solidFill>
              <a:srgbClr val="FFFFFF">
                <a:alpha val="49804"/>
              </a:srgbClr>
            </a:solidFill>
            <a:ln w="47625" cap="rnd">
              <a:solidFill>
                <a:srgbClr val="3780C0">
                  <a:alpha val="49804"/>
                </a:srgbClr>
              </a:solidFill>
              <a:prstDash val="solid"/>
              <a:round/>
            </a:ln>
          </p:spPr>
        </p:sp>
        <p:sp>
          <p:nvSpPr>
            <p:cNvPr id="22" name="TextBox 22"/>
            <p:cNvSpPr txBox="1"/>
            <p:nvPr/>
          </p:nvSpPr>
          <p:spPr>
            <a:xfrm>
              <a:off x="0" y="-38100"/>
              <a:ext cx="580531" cy="152719"/>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a:off x="13137564" y="2059338"/>
            <a:ext cx="4532590" cy="894904"/>
            <a:chOff x="0" y="0"/>
            <a:chExt cx="580531" cy="114619"/>
          </a:xfrm>
        </p:grpSpPr>
        <p:sp>
          <p:nvSpPr>
            <p:cNvPr id="24" name="Freeform 24"/>
            <p:cNvSpPr/>
            <p:nvPr/>
          </p:nvSpPr>
          <p:spPr>
            <a:xfrm>
              <a:off x="0" y="0"/>
              <a:ext cx="580531" cy="114619"/>
            </a:xfrm>
            <a:custGeom>
              <a:avLst/>
              <a:gdLst/>
              <a:ahLst/>
              <a:cxnLst/>
              <a:rect l="l" t="t" r="r" b="b"/>
              <a:pathLst>
                <a:path w="580531" h="114619">
                  <a:moveTo>
                    <a:pt x="57309" y="0"/>
                  </a:moveTo>
                  <a:lnTo>
                    <a:pt x="523222" y="0"/>
                  </a:lnTo>
                  <a:cubicBezTo>
                    <a:pt x="554873" y="0"/>
                    <a:pt x="580531" y="25658"/>
                    <a:pt x="580531" y="57309"/>
                  </a:cubicBezTo>
                  <a:lnTo>
                    <a:pt x="580531" y="57309"/>
                  </a:lnTo>
                  <a:cubicBezTo>
                    <a:pt x="580531" y="88960"/>
                    <a:pt x="554873" y="114619"/>
                    <a:pt x="523222" y="114619"/>
                  </a:cubicBezTo>
                  <a:lnTo>
                    <a:pt x="57309" y="114619"/>
                  </a:lnTo>
                  <a:cubicBezTo>
                    <a:pt x="25658" y="114619"/>
                    <a:pt x="0" y="88960"/>
                    <a:pt x="0" y="57309"/>
                  </a:cubicBezTo>
                  <a:lnTo>
                    <a:pt x="0" y="57309"/>
                  </a:lnTo>
                  <a:cubicBezTo>
                    <a:pt x="0" y="25658"/>
                    <a:pt x="25658" y="0"/>
                    <a:pt x="57309" y="0"/>
                  </a:cubicBezTo>
                  <a:close/>
                </a:path>
              </a:pathLst>
            </a:custGeom>
            <a:solidFill>
              <a:srgbClr val="FFFFFF">
                <a:alpha val="49804"/>
              </a:srgbClr>
            </a:solidFill>
            <a:ln w="47625" cap="rnd">
              <a:solidFill>
                <a:srgbClr val="3780C0">
                  <a:alpha val="49804"/>
                </a:srgbClr>
              </a:solidFill>
              <a:prstDash val="solid"/>
              <a:round/>
            </a:ln>
          </p:spPr>
        </p:sp>
        <p:sp>
          <p:nvSpPr>
            <p:cNvPr id="25" name="TextBox 25"/>
            <p:cNvSpPr txBox="1"/>
            <p:nvPr/>
          </p:nvSpPr>
          <p:spPr>
            <a:xfrm>
              <a:off x="0" y="-38100"/>
              <a:ext cx="580531" cy="152719"/>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a:off x="6932513" y="2059338"/>
            <a:ext cx="4532590" cy="894904"/>
            <a:chOff x="0" y="0"/>
            <a:chExt cx="580531" cy="114619"/>
          </a:xfrm>
        </p:grpSpPr>
        <p:sp>
          <p:nvSpPr>
            <p:cNvPr id="27" name="Freeform 27"/>
            <p:cNvSpPr/>
            <p:nvPr/>
          </p:nvSpPr>
          <p:spPr>
            <a:xfrm>
              <a:off x="0" y="0"/>
              <a:ext cx="580531" cy="114619"/>
            </a:xfrm>
            <a:custGeom>
              <a:avLst/>
              <a:gdLst/>
              <a:ahLst/>
              <a:cxnLst/>
              <a:rect l="l" t="t" r="r" b="b"/>
              <a:pathLst>
                <a:path w="580531" h="114619">
                  <a:moveTo>
                    <a:pt x="57309" y="0"/>
                  </a:moveTo>
                  <a:lnTo>
                    <a:pt x="523222" y="0"/>
                  </a:lnTo>
                  <a:cubicBezTo>
                    <a:pt x="554873" y="0"/>
                    <a:pt x="580531" y="25658"/>
                    <a:pt x="580531" y="57309"/>
                  </a:cubicBezTo>
                  <a:lnTo>
                    <a:pt x="580531" y="57309"/>
                  </a:lnTo>
                  <a:cubicBezTo>
                    <a:pt x="580531" y="88960"/>
                    <a:pt x="554873" y="114619"/>
                    <a:pt x="523222" y="114619"/>
                  </a:cubicBezTo>
                  <a:lnTo>
                    <a:pt x="57309" y="114619"/>
                  </a:lnTo>
                  <a:cubicBezTo>
                    <a:pt x="25658" y="114619"/>
                    <a:pt x="0" y="88960"/>
                    <a:pt x="0" y="57309"/>
                  </a:cubicBezTo>
                  <a:lnTo>
                    <a:pt x="0" y="57309"/>
                  </a:lnTo>
                  <a:cubicBezTo>
                    <a:pt x="0" y="25658"/>
                    <a:pt x="25658" y="0"/>
                    <a:pt x="57309" y="0"/>
                  </a:cubicBezTo>
                  <a:close/>
                </a:path>
              </a:pathLst>
            </a:custGeom>
            <a:solidFill>
              <a:srgbClr val="FFFFFF">
                <a:alpha val="49804"/>
              </a:srgbClr>
            </a:solidFill>
            <a:ln w="47625" cap="rnd">
              <a:solidFill>
                <a:srgbClr val="3780C0">
                  <a:alpha val="49804"/>
                </a:srgbClr>
              </a:solidFill>
              <a:prstDash val="solid"/>
              <a:round/>
            </a:ln>
          </p:spPr>
        </p:sp>
        <p:sp>
          <p:nvSpPr>
            <p:cNvPr id="28" name="TextBox 28"/>
            <p:cNvSpPr txBox="1"/>
            <p:nvPr/>
          </p:nvSpPr>
          <p:spPr>
            <a:xfrm>
              <a:off x="0" y="-38100"/>
              <a:ext cx="580531" cy="152719"/>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29"/>
          <p:cNvSpPr txBox="1"/>
          <p:nvPr/>
        </p:nvSpPr>
        <p:spPr>
          <a:xfrm>
            <a:off x="821080" y="2155952"/>
            <a:ext cx="4390316" cy="582930"/>
          </a:xfrm>
          <a:prstGeom prst="rect">
            <a:avLst/>
          </a:prstGeom>
        </p:spPr>
        <p:txBody>
          <a:bodyPr lIns="0" tIns="0" rIns="0" bIns="0" rtlCol="0" anchor="t">
            <a:spAutoFit/>
          </a:bodyPr>
          <a:lstStyle/>
          <a:p>
            <a:pPr marL="0" lvl="0" indent="0" algn="ctr">
              <a:lnSpc>
                <a:spcPts val="4619"/>
              </a:lnSpc>
              <a:spcBef>
                <a:spcPct val="0"/>
              </a:spcBef>
            </a:pPr>
            <a:r>
              <a:rPr lang="en-US" sz="3299" b="1">
                <a:solidFill>
                  <a:srgbClr val="000000"/>
                </a:solidFill>
                <a:latin typeface="Times New Roman Bold"/>
                <a:ea typeface="Times New Roman Bold"/>
                <a:cs typeface="Times New Roman Bold"/>
                <a:sym typeface="Times New Roman Bold"/>
              </a:rPr>
              <a:t>Ban Truyền Thông</a:t>
            </a:r>
          </a:p>
        </p:txBody>
      </p:sp>
      <p:sp>
        <p:nvSpPr>
          <p:cNvPr id="30" name="TextBox 30"/>
          <p:cNvSpPr txBox="1"/>
          <p:nvPr/>
        </p:nvSpPr>
        <p:spPr>
          <a:xfrm>
            <a:off x="2362200" y="979776"/>
            <a:ext cx="15283919" cy="977326"/>
          </a:xfrm>
          <a:prstGeom prst="rect">
            <a:avLst/>
          </a:prstGeom>
        </p:spPr>
        <p:txBody>
          <a:bodyPr wrap="square" lIns="0" tIns="0" rIns="0" bIns="0" rtlCol="0" anchor="t">
            <a:spAutoFit/>
          </a:bodyPr>
          <a:lstStyle/>
          <a:p>
            <a:pPr algn="l">
              <a:lnSpc>
                <a:spcPts val="6750"/>
              </a:lnSpc>
            </a:pPr>
            <a:r>
              <a:rPr lang="en-US" sz="8000" spc="-630" dirty="0" err="1">
                <a:solidFill>
                  <a:schemeClr val="accent1">
                    <a:lumMod val="50000"/>
                  </a:schemeClr>
                </a:solidFill>
                <a:latin typeface="Bungee"/>
                <a:ea typeface="Bungee"/>
                <a:cs typeface="Bungee"/>
                <a:sym typeface="Bungee"/>
              </a:rPr>
              <a:t>Gồm</a:t>
            </a:r>
            <a:r>
              <a:rPr lang="en-US" sz="8000" spc="-630" dirty="0">
                <a:solidFill>
                  <a:schemeClr val="accent1">
                    <a:lumMod val="50000"/>
                  </a:schemeClr>
                </a:solidFill>
                <a:latin typeface="Bungee"/>
                <a:ea typeface="Bungee"/>
                <a:cs typeface="Bungee"/>
                <a:sym typeface="Bungee"/>
              </a:rPr>
              <a:t> 3 ban </a:t>
            </a:r>
            <a:r>
              <a:rPr lang="en-US" sz="8000" spc="-630" dirty="0" err="1">
                <a:solidFill>
                  <a:schemeClr val="accent1">
                    <a:lumMod val="50000"/>
                  </a:schemeClr>
                </a:solidFill>
                <a:latin typeface="Bungee"/>
                <a:ea typeface="Bungee"/>
                <a:cs typeface="Bungee"/>
                <a:sym typeface="Bungee"/>
              </a:rPr>
              <a:t>hoạt</a:t>
            </a:r>
            <a:r>
              <a:rPr lang="en-US" sz="8000" spc="-630" dirty="0">
                <a:solidFill>
                  <a:schemeClr val="accent1">
                    <a:lumMod val="50000"/>
                  </a:schemeClr>
                </a:solidFill>
                <a:latin typeface="Bungee"/>
                <a:ea typeface="Bungee"/>
                <a:cs typeface="Bungee"/>
                <a:sym typeface="Bungee"/>
              </a:rPr>
              <a:t> </a:t>
            </a:r>
            <a:r>
              <a:rPr lang="en-US" sz="8000" spc="-630" dirty="0" err="1">
                <a:solidFill>
                  <a:schemeClr val="accent1">
                    <a:lumMod val="50000"/>
                  </a:schemeClr>
                </a:solidFill>
                <a:latin typeface="Bungee"/>
                <a:ea typeface="Bungee"/>
                <a:cs typeface="Bungee"/>
                <a:sym typeface="Bungee"/>
              </a:rPr>
              <a:t>động</a:t>
            </a:r>
            <a:r>
              <a:rPr lang="en-US" sz="8000" spc="-630" dirty="0">
                <a:solidFill>
                  <a:schemeClr val="accent1">
                    <a:lumMod val="50000"/>
                  </a:schemeClr>
                </a:solidFill>
                <a:latin typeface="Bungee"/>
                <a:ea typeface="Bungee"/>
                <a:cs typeface="Bungee"/>
                <a:sym typeface="Bungee"/>
              </a:rPr>
              <a:t> </a:t>
            </a:r>
            <a:r>
              <a:rPr lang="en-US" sz="8000" spc="-630" dirty="0" err="1">
                <a:solidFill>
                  <a:schemeClr val="accent1">
                    <a:lumMod val="50000"/>
                  </a:schemeClr>
                </a:solidFill>
                <a:latin typeface="Bungee"/>
                <a:ea typeface="Bungee"/>
                <a:cs typeface="Bungee"/>
                <a:sym typeface="Bungee"/>
              </a:rPr>
              <a:t>Chính</a:t>
            </a:r>
            <a:endParaRPr lang="en-US" sz="8000" spc="-630" dirty="0">
              <a:solidFill>
                <a:schemeClr val="accent1">
                  <a:lumMod val="50000"/>
                </a:schemeClr>
              </a:solidFill>
              <a:latin typeface="Bungee"/>
              <a:ea typeface="Bungee"/>
              <a:cs typeface="Bungee"/>
              <a:sym typeface="Bungee"/>
            </a:endParaRPr>
          </a:p>
        </p:txBody>
      </p:sp>
      <p:sp>
        <p:nvSpPr>
          <p:cNvPr id="31" name="TextBox 31"/>
          <p:cNvSpPr txBox="1"/>
          <p:nvPr/>
        </p:nvSpPr>
        <p:spPr>
          <a:xfrm>
            <a:off x="7003650" y="2172462"/>
            <a:ext cx="4390316" cy="582930"/>
          </a:xfrm>
          <a:prstGeom prst="rect">
            <a:avLst/>
          </a:prstGeom>
        </p:spPr>
        <p:txBody>
          <a:bodyPr lIns="0" tIns="0" rIns="0" bIns="0" rtlCol="0" anchor="t">
            <a:spAutoFit/>
          </a:bodyPr>
          <a:lstStyle/>
          <a:p>
            <a:pPr marL="0" lvl="0" indent="0" algn="ctr">
              <a:lnSpc>
                <a:spcPts val="4619"/>
              </a:lnSpc>
              <a:spcBef>
                <a:spcPct val="0"/>
              </a:spcBef>
            </a:pPr>
            <a:r>
              <a:rPr lang="en-US" sz="3299" b="1">
                <a:solidFill>
                  <a:srgbClr val="000000"/>
                </a:solidFill>
                <a:latin typeface="Times New Roman Bold"/>
                <a:ea typeface="Times New Roman Bold"/>
                <a:cs typeface="Times New Roman Bold"/>
                <a:sym typeface="Times New Roman Bold"/>
              </a:rPr>
              <a:t>Ban Tổ Chức Sự Kiện</a:t>
            </a:r>
          </a:p>
        </p:txBody>
      </p:sp>
      <p:sp>
        <p:nvSpPr>
          <p:cNvPr id="32" name="TextBox 32"/>
          <p:cNvSpPr txBox="1"/>
          <p:nvPr/>
        </p:nvSpPr>
        <p:spPr>
          <a:xfrm>
            <a:off x="13255803" y="2155952"/>
            <a:ext cx="4390316" cy="582930"/>
          </a:xfrm>
          <a:prstGeom prst="rect">
            <a:avLst/>
          </a:prstGeom>
        </p:spPr>
        <p:txBody>
          <a:bodyPr lIns="0" tIns="0" rIns="0" bIns="0" rtlCol="0" anchor="t">
            <a:spAutoFit/>
          </a:bodyPr>
          <a:lstStyle/>
          <a:p>
            <a:pPr marL="0" lvl="0" indent="0" algn="ctr">
              <a:lnSpc>
                <a:spcPts val="4619"/>
              </a:lnSpc>
              <a:spcBef>
                <a:spcPct val="0"/>
              </a:spcBef>
            </a:pPr>
            <a:r>
              <a:rPr lang="en-US" sz="3299" b="1">
                <a:solidFill>
                  <a:srgbClr val="000000"/>
                </a:solidFill>
                <a:latin typeface="Times New Roman Bold"/>
                <a:ea typeface="Times New Roman Bold"/>
                <a:cs typeface="Times New Roman Bold"/>
                <a:sym typeface="Times New Roman Bold"/>
              </a:rPr>
              <a:t>Ban Hậu Cần</a:t>
            </a:r>
          </a:p>
        </p:txBody>
      </p:sp>
      <p:grpSp>
        <p:nvGrpSpPr>
          <p:cNvPr id="33" name="Group 33"/>
          <p:cNvGrpSpPr/>
          <p:nvPr/>
        </p:nvGrpSpPr>
        <p:grpSpPr>
          <a:xfrm>
            <a:off x="6979322" y="3557018"/>
            <a:ext cx="4666326" cy="6147052"/>
            <a:chOff x="0" y="0"/>
            <a:chExt cx="467363" cy="615510"/>
          </a:xfrm>
        </p:grpSpPr>
        <p:sp>
          <p:nvSpPr>
            <p:cNvPr id="34" name="Freeform 34"/>
            <p:cNvSpPr/>
            <p:nvPr/>
          </p:nvSpPr>
          <p:spPr>
            <a:xfrm>
              <a:off x="0" y="0"/>
              <a:ext cx="467363" cy="615510"/>
            </a:xfrm>
            <a:custGeom>
              <a:avLst/>
              <a:gdLst/>
              <a:ahLst/>
              <a:cxnLst/>
              <a:rect l="l" t="t" r="r" b="b"/>
              <a:pathLst>
                <a:path w="467363" h="615510">
                  <a:moveTo>
                    <a:pt x="467363" y="74660"/>
                  </a:moveTo>
                  <a:lnTo>
                    <a:pt x="467363" y="540850"/>
                  </a:lnTo>
                  <a:cubicBezTo>
                    <a:pt x="467363" y="582084"/>
                    <a:pt x="433937" y="615510"/>
                    <a:pt x="392703" y="615510"/>
                  </a:cubicBezTo>
                  <a:lnTo>
                    <a:pt x="74660" y="615510"/>
                  </a:lnTo>
                  <a:cubicBezTo>
                    <a:pt x="33426" y="615510"/>
                    <a:pt x="0" y="582084"/>
                    <a:pt x="0" y="540850"/>
                  </a:cubicBezTo>
                  <a:lnTo>
                    <a:pt x="0" y="74660"/>
                  </a:lnTo>
                  <a:cubicBezTo>
                    <a:pt x="0" y="33426"/>
                    <a:pt x="33426" y="0"/>
                    <a:pt x="74660" y="0"/>
                  </a:cubicBezTo>
                  <a:lnTo>
                    <a:pt x="392703" y="0"/>
                  </a:lnTo>
                  <a:cubicBezTo>
                    <a:pt x="412504" y="0"/>
                    <a:pt x="431494" y="7866"/>
                    <a:pt x="445496" y="21867"/>
                  </a:cubicBezTo>
                  <a:cubicBezTo>
                    <a:pt x="459497" y="35869"/>
                    <a:pt x="467363" y="54859"/>
                    <a:pt x="467363" y="74660"/>
                  </a:cubicBezTo>
                  <a:close/>
                </a:path>
              </a:pathLst>
            </a:custGeom>
            <a:solidFill>
              <a:srgbClr val="FFFFFF">
                <a:alpha val="49804"/>
              </a:srgbClr>
            </a:solidFill>
            <a:ln w="47625" cap="rnd">
              <a:solidFill>
                <a:srgbClr val="3780C0">
                  <a:alpha val="49804"/>
                </a:srgbClr>
              </a:solidFill>
              <a:prstDash val="solid"/>
              <a:round/>
            </a:ln>
          </p:spPr>
        </p:sp>
        <p:sp>
          <p:nvSpPr>
            <p:cNvPr id="35" name="TextBox 35"/>
            <p:cNvSpPr txBox="1"/>
            <p:nvPr/>
          </p:nvSpPr>
          <p:spPr>
            <a:xfrm>
              <a:off x="0" y="-38100"/>
              <a:ext cx="467363" cy="653610"/>
            </a:xfrm>
            <a:prstGeom prst="rect">
              <a:avLst/>
            </a:prstGeom>
          </p:spPr>
          <p:txBody>
            <a:bodyPr lIns="50800" tIns="50800" rIns="50800" bIns="50800" rtlCol="0" anchor="ctr"/>
            <a:lstStyle/>
            <a:p>
              <a:pPr algn="ctr">
                <a:lnSpc>
                  <a:spcPts val="2659"/>
                </a:lnSpc>
                <a:spcBef>
                  <a:spcPct val="0"/>
                </a:spcBef>
              </a:pPr>
              <a:endParaRPr/>
            </a:p>
          </p:txBody>
        </p:sp>
      </p:grpSp>
      <p:grpSp>
        <p:nvGrpSpPr>
          <p:cNvPr id="36" name="Group 36"/>
          <p:cNvGrpSpPr/>
          <p:nvPr/>
        </p:nvGrpSpPr>
        <p:grpSpPr>
          <a:xfrm>
            <a:off x="13137564" y="3557018"/>
            <a:ext cx="4666326" cy="6147052"/>
            <a:chOff x="0" y="0"/>
            <a:chExt cx="467363" cy="615510"/>
          </a:xfrm>
        </p:grpSpPr>
        <p:sp>
          <p:nvSpPr>
            <p:cNvPr id="37" name="Freeform 37"/>
            <p:cNvSpPr/>
            <p:nvPr/>
          </p:nvSpPr>
          <p:spPr>
            <a:xfrm>
              <a:off x="0" y="0"/>
              <a:ext cx="467363" cy="615510"/>
            </a:xfrm>
            <a:custGeom>
              <a:avLst/>
              <a:gdLst/>
              <a:ahLst/>
              <a:cxnLst/>
              <a:rect l="l" t="t" r="r" b="b"/>
              <a:pathLst>
                <a:path w="467363" h="615510">
                  <a:moveTo>
                    <a:pt x="467363" y="74660"/>
                  </a:moveTo>
                  <a:lnTo>
                    <a:pt x="467363" y="540850"/>
                  </a:lnTo>
                  <a:cubicBezTo>
                    <a:pt x="467363" y="582084"/>
                    <a:pt x="433937" y="615510"/>
                    <a:pt x="392703" y="615510"/>
                  </a:cubicBezTo>
                  <a:lnTo>
                    <a:pt x="74660" y="615510"/>
                  </a:lnTo>
                  <a:cubicBezTo>
                    <a:pt x="33426" y="615510"/>
                    <a:pt x="0" y="582084"/>
                    <a:pt x="0" y="540850"/>
                  </a:cubicBezTo>
                  <a:lnTo>
                    <a:pt x="0" y="74660"/>
                  </a:lnTo>
                  <a:cubicBezTo>
                    <a:pt x="0" y="33426"/>
                    <a:pt x="33426" y="0"/>
                    <a:pt x="74660" y="0"/>
                  </a:cubicBezTo>
                  <a:lnTo>
                    <a:pt x="392703" y="0"/>
                  </a:lnTo>
                  <a:cubicBezTo>
                    <a:pt x="412504" y="0"/>
                    <a:pt x="431494" y="7866"/>
                    <a:pt x="445496" y="21867"/>
                  </a:cubicBezTo>
                  <a:cubicBezTo>
                    <a:pt x="459497" y="35869"/>
                    <a:pt x="467363" y="54859"/>
                    <a:pt x="467363" y="74660"/>
                  </a:cubicBezTo>
                  <a:close/>
                </a:path>
              </a:pathLst>
            </a:custGeom>
            <a:solidFill>
              <a:srgbClr val="FFFFFF">
                <a:alpha val="49804"/>
              </a:srgbClr>
            </a:solidFill>
            <a:ln w="47625" cap="rnd">
              <a:solidFill>
                <a:srgbClr val="3780C0">
                  <a:alpha val="49804"/>
                </a:srgbClr>
              </a:solidFill>
              <a:prstDash val="solid"/>
              <a:round/>
            </a:ln>
          </p:spPr>
        </p:sp>
        <p:sp>
          <p:nvSpPr>
            <p:cNvPr id="38" name="TextBox 38"/>
            <p:cNvSpPr txBox="1"/>
            <p:nvPr/>
          </p:nvSpPr>
          <p:spPr>
            <a:xfrm>
              <a:off x="0" y="-38100"/>
              <a:ext cx="467363" cy="653610"/>
            </a:xfrm>
            <a:prstGeom prst="rect">
              <a:avLst/>
            </a:prstGeom>
          </p:spPr>
          <p:txBody>
            <a:bodyPr lIns="50800" tIns="50800" rIns="50800" bIns="50800" rtlCol="0" anchor="ctr"/>
            <a:lstStyle/>
            <a:p>
              <a:pPr algn="ctr">
                <a:lnSpc>
                  <a:spcPts val="2659"/>
                </a:lnSpc>
                <a:spcBef>
                  <a:spcPct val="0"/>
                </a:spcBef>
              </a:pPr>
              <a:endParaRPr/>
            </a:p>
          </p:txBody>
        </p:sp>
      </p:grpSp>
      <p:sp>
        <p:nvSpPr>
          <p:cNvPr id="39" name="TextBox 39"/>
          <p:cNvSpPr txBox="1"/>
          <p:nvPr/>
        </p:nvSpPr>
        <p:spPr>
          <a:xfrm>
            <a:off x="1028700" y="3752724"/>
            <a:ext cx="4390316" cy="5343525"/>
          </a:xfrm>
          <a:prstGeom prst="rect">
            <a:avLst/>
          </a:prstGeom>
        </p:spPr>
        <p:txBody>
          <a:bodyPr lIns="0" tIns="0" rIns="0" bIns="0" rtlCol="0" anchor="t">
            <a:spAutoFit/>
          </a:bodyPr>
          <a:lstStyle/>
          <a:p>
            <a:pPr algn="l">
              <a:lnSpc>
                <a:spcPts val="4200"/>
              </a:lnSpc>
            </a:pPr>
            <a:r>
              <a:rPr lang="en-US" sz="3000" b="1">
                <a:solidFill>
                  <a:srgbClr val="000000"/>
                </a:solidFill>
                <a:latin typeface="Times New Roman Bold"/>
                <a:ea typeface="Times New Roman Bold"/>
                <a:cs typeface="Times New Roman Bold"/>
                <a:sym typeface="Times New Roman Bold"/>
              </a:rPr>
              <a:t>Là những người đứng sau hậu trường nhưng luôn góp phần tạo nên ánh đèn sân khấu.</a:t>
            </a:r>
          </a:p>
          <a:p>
            <a:pPr algn="l">
              <a:lnSpc>
                <a:spcPts val="4200"/>
              </a:lnSpc>
            </a:pPr>
            <a:r>
              <a:rPr lang="en-US" sz="3000" b="1">
                <a:solidFill>
                  <a:srgbClr val="000000"/>
                </a:solidFill>
                <a:latin typeface="Times New Roman Bold"/>
                <a:ea typeface="Times New Roman Bold"/>
                <a:cs typeface="Times New Roman Bold"/>
                <a:sym typeface="Times New Roman Bold"/>
              </a:rPr>
              <a:t>⁃ Ghi lại những khoảnh khắc rực rỡ của CLB</a:t>
            </a:r>
          </a:p>
          <a:p>
            <a:pPr algn="l">
              <a:lnSpc>
                <a:spcPts val="4200"/>
              </a:lnSpc>
            </a:pPr>
            <a:r>
              <a:rPr lang="en-US" sz="3000" b="1">
                <a:solidFill>
                  <a:srgbClr val="000000"/>
                </a:solidFill>
                <a:latin typeface="Times New Roman Bold"/>
                <a:ea typeface="Times New Roman Bold"/>
                <a:cs typeface="Times New Roman Bold"/>
                <a:sym typeface="Times New Roman Bold"/>
              </a:rPr>
              <a:t>⁃ Thiết kế ấn phẩm truyền thông đẹp mắt</a:t>
            </a:r>
          </a:p>
          <a:p>
            <a:pPr marL="0" lvl="0" indent="0" algn="l">
              <a:lnSpc>
                <a:spcPts val="4200"/>
              </a:lnSpc>
              <a:spcBef>
                <a:spcPct val="0"/>
              </a:spcBef>
            </a:pPr>
            <a:r>
              <a:rPr lang="en-US" sz="3000" b="1">
                <a:solidFill>
                  <a:srgbClr val="000000"/>
                </a:solidFill>
                <a:latin typeface="Times New Roman Bold"/>
                <a:ea typeface="Times New Roman Bold"/>
                <a:cs typeface="Times New Roman Bold"/>
                <a:sym typeface="Times New Roman Bold"/>
              </a:rPr>
              <a:t>⁃ Đưa hình ảnh TNTN đến gần hơn với cộng đồng</a:t>
            </a:r>
          </a:p>
        </p:txBody>
      </p:sp>
      <p:sp>
        <p:nvSpPr>
          <p:cNvPr id="40" name="TextBox 40"/>
          <p:cNvSpPr txBox="1"/>
          <p:nvPr/>
        </p:nvSpPr>
        <p:spPr>
          <a:xfrm>
            <a:off x="7117327" y="3762249"/>
            <a:ext cx="4390316" cy="5453380"/>
          </a:xfrm>
          <a:prstGeom prst="rect">
            <a:avLst/>
          </a:prstGeom>
        </p:spPr>
        <p:txBody>
          <a:bodyPr lIns="0" tIns="0" rIns="0" bIns="0" rtlCol="0" anchor="t">
            <a:spAutoFit/>
          </a:bodyPr>
          <a:lstStyle/>
          <a:p>
            <a:pPr algn="l">
              <a:lnSpc>
                <a:spcPts val="3920"/>
              </a:lnSpc>
            </a:pPr>
            <a:r>
              <a:rPr lang="en-US" sz="2800" b="1">
                <a:solidFill>
                  <a:srgbClr val="000000"/>
                </a:solidFill>
                <a:latin typeface="Times New Roman Bold"/>
                <a:ea typeface="Times New Roman Bold"/>
                <a:cs typeface="Times New Roman Bold"/>
                <a:sym typeface="Times New Roman Bold"/>
              </a:rPr>
              <a:t>Khi niềm vui của mọi người là động lực, thì sự sáng tạo là ngọn lửa không bao giờ tắt.</a:t>
            </a:r>
          </a:p>
          <a:p>
            <a:pPr algn="l">
              <a:lnSpc>
                <a:spcPts val="3920"/>
              </a:lnSpc>
            </a:pPr>
            <a:r>
              <a:rPr lang="en-US" sz="2800" b="1">
                <a:solidFill>
                  <a:srgbClr val="000000"/>
                </a:solidFill>
                <a:latin typeface="Times New Roman Bold"/>
                <a:ea typeface="Times New Roman Bold"/>
                <a:cs typeface="Times New Roman Bold"/>
                <a:sym typeface="Times New Roman Bold"/>
              </a:rPr>
              <a:t>⁃ Lên ý tưởng, triển khai các chương trình nội bộ và cộng đồng</a:t>
            </a:r>
          </a:p>
          <a:p>
            <a:pPr algn="l">
              <a:lnSpc>
                <a:spcPts val="3920"/>
              </a:lnSpc>
            </a:pPr>
            <a:r>
              <a:rPr lang="en-US" sz="2800" b="1">
                <a:solidFill>
                  <a:srgbClr val="000000"/>
                </a:solidFill>
                <a:latin typeface="Times New Roman Bold"/>
                <a:ea typeface="Times New Roman Bold"/>
                <a:cs typeface="Times New Roman Bold"/>
                <a:sym typeface="Times New Roman Bold"/>
              </a:rPr>
              <a:t>⁃ Phối hợp tổ chức hoạt động dã ngoại, ngoại khóa</a:t>
            </a:r>
          </a:p>
          <a:p>
            <a:pPr marL="0" lvl="0" indent="0" algn="l">
              <a:lnSpc>
                <a:spcPts val="3920"/>
              </a:lnSpc>
              <a:spcBef>
                <a:spcPct val="0"/>
              </a:spcBef>
            </a:pPr>
            <a:r>
              <a:rPr lang="en-US" sz="2800" b="1">
                <a:solidFill>
                  <a:srgbClr val="000000"/>
                </a:solidFill>
                <a:latin typeface="Times New Roman Bold"/>
                <a:ea typeface="Times New Roman Bold"/>
                <a:cs typeface="Times New Roman Bold"/>
                <a:sym typeface="Times New Roman Bold"/>
              </a:rPr>
              <a:t>⁃ Dẫn dắt các tiết mục văn nghệ, khuấy động không khí</a:t>
            </a:r>
          </a:p>
        </p:txBody>
      </p:sp>
      <p:sp>
        <p:nvSpPr>
          <p:cNvPr id="41" name="TextBox 41"/>
          <p:cNvSpPr txBox="1"/>
          <p:nvPr/>
        </p:nvSpPr>
        <p:spPr>
          <a:xfrm>
            <a:off x="13341098" y="3762249"/>
            <a:ext cx="4390316" cy="5146040"/>
          </a:xfrm>
          <a:prstGeom prst="rect">
            <a:avLst/>
          </a:prstGeom>
        </p:spPr>
        <p:txBody>
          <a:bodyPr lIns="0" tIns="0" rIns="0" bIns="0" rtlCol="0" anchor="t">
            <a:spAutoFit/>
          </a:bodyPr>
          <a:lstStyle/>
          <a:p>
            <a:pPr algn="l">
              <a:lnSpc>
                <a:spcPts val="4059"/>
              </a:lnSpc>
            </a:pPr>
            <a:r>
              <a:rPr lang="en-US" sz="2899" b="1">
                <a:solidFill>
                  <a:srgbClr val="000000"/>
                </a:solidFill>
                <a:latin typeface="Times New Roman Bold"/>
                <a:ea typeface="Times New Roman Bold"/>
                <a:cs typeface="Times New Roman Bold"/>
                <a:sym typeface="Times New Roman Bold"/>
              </a:rPr>
              <a:t>Không phô trương, không ồn ào – nhưng luôn là người ở lại sau cùng để mọi thứ diễn ra suôn sẻ.</a:t>
            </a:r>
          </a:p>
          <a:p>
            <a:pPr algn="l">
              <a:lnSpc>
                <a:spcPts val="4059"/>
              </a:lnSpc>
            </a:pPr>
            <a:r>
              <a:rPr lang="en-US" sz="2899" b="1">
                <a:solidFill>
                  <a:srgbClr val="000000"/>
                </a:solidFill>
                <a:latin typeface="Times New Roman Bold"/>
                <a:ea typeface="Times New Roman Bold"/>
                <a:cs typeface="Times New Roman Bold"/>
                <a:sym typeface="Times New Roman Bold"/>
              </a:rPr>
              <a:t>⁃ Phụ trách chuẩn bị dụng cụ, hậu cần</a:t>
            </a:r>
          </a:p>
          <a:p>
            <a:pPr algn="l">
              <a:lnSpc>
                <a:spcPts val="4059"/>
              </a:lnSpc>
            </a:pPr>
            <a:r>
              <a:rPr lang="en-US" sz="2899" b="1">
                <a:solidFill>
                  <a:srgbClr val="000000"/>
                </a:solidFill>
                <a:latin typeface="Times New Roman Bold"/>
                <a:ea typeface="Times New Roman Bold"/>
                <a:cs typeface="Times New Roman Bold"/>
                <a:sym typeface="Times New Roman Bold"/>
              </a:rPr>
              <a:t>⁃ Đảm bảo các bữa ăn cho từng chương trình</a:t>
            </a:r>
          </a:p>
          <a:p>
            <a:pPr marL="0" lvl="0" indent="0" algn="l">
              <a:lnSpc>
                <a:spcPts val="4059"/>
              </a:lnSpc>
              <a:spcBef>
                <a:spcPct val="0"/>
              </a:spcBef>
            </a:pPr>
            <a:r>
              <a:rPr lang="en-US" sz="2899" b="1">
                <a:solidFill>
                  <a:srgbClr val="000000"/>
                </a:solidFill>
                <a:latin typeface="Times New Roman Bold"/>
                <a:ea typeface="Times New Roman Bold"/>
                <a:cs typeface="Times New Roman Bold"/>
                <a:sym typeface="Times New Roman Bold"/>
              </a:rPr>
              <a:t>⁃ Gắn kết và hỗ trợ thành viên trong mọi tình huống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83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11" r="-111"/>
            </a:stretch>
          </a:blipFill>
        </p:spPr>
        <p:txBody>
          <a:bodyPr/>
          <a:lstStyle/>
          <a:p>
            <a:endParaRPr lang="en-US" dirty="0"/>
          </a:p>
        </p:txBody>
      </p:sp>
      <p:sp>
        <p:nvSpPr>
          <p:cNvPr id="3" name="Freeform 3"/>
          <p:cNvSpPr/>
          <p:nvPr/>
        </p:nvSpPr>
        <p:spPr>
          <a:xfrm>
            <a:off x="9944100" y="994618"/>
            <a:ext cx="7315200" cy="2354164"/>
          </a:xfrm>
          <a:custGeom>
            <a:avLst/>
            <a:gdLst/>
            <a:ahLst/>
            <a:cxnLst/>
            <a:rect l="l" t="t" r="r" b="b"/>
            <a:pathLst>
              <a:path w="7315200" h="2354164">
                <a:moveTo>
                  <a:pt x="0" y="0"/>
                </a:moveTo>
                <a:lnTo>
                  <a:pt x="7315200" y="0"/>
                </a:lnTo>
                <a:lnTo>
                  <a:pt x="7315200" y="2354164"/>
                </a:lnTo>
                <a:lnTo>
                  <a:pt x="0" y="23541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3455968" y="9653588"/>
            <a:ext cx="111442" cy="108585"/>
            <a:chOff x="0" y="0"/>
            <a:chExt cx="148590" cy="144780"/>
          </a:xfrm>
        </p:grpSpPr>
        <p:sp>
          <p:nvSpPr>
            <p:cNvPr id="5" name="Freeform 5"/>
            <p:cNvSpPr/>
            <p:nvPr/>
          </p:nvSpPr>
          <p:spPr>
            <a:xfrm>
              <a:off x="48487" y="49054"/>
              <a:ext cx="48033" cy="40785"/>
            </a:xfrm>
            <a:custGeom>
              <a:avLst/>
              <a:gdLst/>
              <a:ahLst/>
              <a:cxnLst/>
              <a:rect l="l" t="t" r="r" b="b"/>
              <a:pathLst>
                <a:path w="48033" h="40785">
                  <a:moveTo>
                    <a:pt x="48033" y="14446"/>
                  </a:moveTo>
                  <a:cubicBezTo>
                    <a:pt x="26443" y="48736"/>
                    <a:pt x="6123" y="42386"/>
                    <a:pt x="2313" y="34766"/>
                  </a:cubicBezTo>
                  <a:cubicBezTo>
                    <a:pt x="-2767" y="28416"/>
                    <a:pt x="1043" y="6826"/>
                    <a:pt x="8663" y="1746"/>
                  </a:cubicBezTo>
                  <a:cubicBezTo>
                    <a:pt x="15013" y="-3334"/>
                    <a:pt x="41683" y="4286"/>
                    <a:pt x="41683" y="4286"/>
                  </a:cubicBezTo>
                </a:path>
              </a:pathLst>
            </a:custGeom>
            <a:solidFill>
              <a:srgbClr val="01184E"/>
            </a:solidFill>
            <a:ln cap="sq">
              <a:noFill/>
              <a:prstDash val="solid"/>
              <a:miter/>
            </a:ln>
          </p:spPr>
        </p:sp>
      </p:grpSp>
      <p:grpSp>
        <p:nvGrpSpPr>
          <p:cNvPr id="6" name="Group 6"/>
          <p:cNvGrpSpPr/>
          <p:nvPr/>
        </p:nvGrpSpPr>
        <p:grpSpPr>
          <a:xfrm>
            <a:off x="13427393" y="9704070"/>
            <a:ext cx="111442" cy="108585"/>
            <a:chOff x="0" y="0"/>
            <a:chExt cx="148590" cy="144780"/>
          </a:xfrm>
        </p:grpSpPr>
        <p:sp>
          <p:nvSpPr>
            <p:cNvPr id="7" name="Freeform 7"/>
            <p:cNvSpPr/>
            <p:nvPr/>
          </p:nvSpPr>
          <p:spPr>
            <a:xfrm>
              <a:off x="49280" y="49054"/>
              <a:ext cx="48510" cy="40785"/>
            </a:xfrm>
            <a:custGeom>
              <a:avLst/>
              <a:gdLst/>
              <a:ahLst/>
              <a:cxnLst/>
              <a:rect l="l" t="t" r="r" b="b"/>
              <a:pathLst>
                <a:path w="48510" h="40785">
                  <a:moveTo>
                    <a:pt x="48510" y="14446"/>
                  </a:moveTo>
                  <a:cubicBezTo>
                    <a:pt x="26920" y="48736"/>
                    <a:pt x="6600" y="42386"/>
                    <a:pt x="1520" y="34766"/>
                  </a:cubicBezTo>
                  <a:cubicBezTo>
                    <a:pt x="-2290" y="27146"/>
                    <a:pt x="1520" y="6826"/>
                    <a:pt x="7870" y="1746"/>
                  </a:cubicBezTo>
                  <a:cubicBezTo>
                    <a:pt x="14220" y="-3334"/>
                    <a:pt x="42160" y="4286"/>
                    <a:pt x="42160" y="4286"/>
                  </a:cubicBezTo>
                </a:path>
              </a:pathLst>
            </a:custGeom>
            <a:solidFill>
              <a:srgbClr val="01184E"/>
            </a:solidFill>
            <a:ln cap="sq">
              <a:noFill/>
              <a:prstDash val="solid"/>
              <a:miter/>
            </a:ln>
          </p:spPr>
        </p:sp>
      </p:grpSp>
      <p:grpSp>
        <p:nvGrpSpPr>
          <p:cNvPr id="8" name="Group 8"/>
          <p:cNvGrpSpPr/>
          <p:nvPr/>
        </p:nvGrpSpPr>
        <p:grpSpPr>
          <a:xfrm>
            <a:off x="1015380" y="5401893"/>
            <a:ext cx="4570824" cy="4114800"/>
            <a:chOff x="0" y="0"/>
            <a:chExt cx="1203838" cy="1083733"/>
          </a:xfrm>
        </p:grpSpPr>
        <p:sp>
          <p:nvSpPr>
            <p:cNvPr id="9" name="Freeform 9"/>
            <p:cNvSpPr/>
            <p:nvPr/>
          </p:nvSpPr>
          <p:spPr>
            <a:xfrm>
              <a:off x="0" y="0"/>
              <a:ext cx="1203839" cy="1083733"/>
            </a:xfrm>
            <a:custGeom>
              <a:avLst/>
              <a:gdLst/>
              <a:ahLst/>
              <a:cxnLst/>
              <a:rect l="l" t="t" r="r" b="b"/>
              <a:pathLst>
                <a:path w="1203839" h="1083733">
                  <a:moveTo>
                    <a:pt x="86382" y="0"/>
                  </a:moveTo>
                  <a:lnTo>
                    <a:pt x="1117456" y="0"/>
                  </a:lnTo>
                  <a:cubicBezTo>
                    <a:pt x="1140366" y="0"/>
                    <a:pt x="1162338" y="9101"/>
                    <a:pt x="1178538" y="25301"/>
                  </a:cubicBezTo>
                  <a:cubicBezTo>
                    <a:pt x="1194738" y="41501"/>
                    <a:pt x="1203839" y="63472"/>
                    <a:pt x="1203839" y="86382"/>
                  </a:cubicBezTo>
                  <a:lnTo>
                    <a:pt x="1203839" y="997351"/>
                  </a:lnTo>
                  <a:cubicBezTo>
                    <a:pt x="1203839" y="1020261"/>
                    <a:pt x="1194738" y="1042233"/>
                    <a:pt x="1178538" y="1058433"/>
                  </a:cubicBezTo>
                  <a:cubicBezTo>
                    <a:pt x="1162338" y="1074632"/>
                    <a:pt x="1140366" y="1083733"/>
                    <a:pt x="1117456" y="1083733"/>
                  </a:cubicBezTo>
                  <a:lnTo>
                    <a:pt x="86382" y="1083733"/>
                  </a:lnTo>
                  <a:cubicBezTo>
                    <a:pt x="63472" y="1083733"/>
                    <a:pt x="41501" y="1074632"/>
                    <a:pt x="25301" y="1058433"/>
                  </a:cubicBezTo>
                  <a:cubicBezTo>
                    <a:pt x="9101" y="1042233"/>
                    <a:pt x="0" y="1020261"/>
                    <a:pt x="0" y="997351"/>
                  </a:cubicBezTo>
                  <a:lnTo>
                    <a:pt x="0" y="86382"/>
                  </a:lnTo>
                  <a:cubicBezTo>
                    <a:pt x="0" y="63472"/>
                    <a:pt x="9101" y="41501"/>
                    <a:pt x="25301" y="25301"/>
                  </a:cubicBezTo>
                  <a:cubicBezTo>
                    <a:pt x="41501" y="9101"/>
                    <a:pt x="63472" y="0"/>
                    <a:pt x="86382" y="0"/>
                  </a:cubicBezTo>
                  <a:close/>
                </a:path>
              </a:pathLst>
            </a:custGeom>
            <a:solidFill>
              <a:srgbClr val="FFFFFF">
                <a:alpha val="49804"/>
              </a:srgbClr>
            </a:solidFill>
            <a:ln w="47625" cap="rnd">
              <a:solidFill>
                <a:srgbClr val="3780C0">
                  <a:alpha val="49804"/>
                </a:srgbClr>
              </a:solidFill>
              <a:prstDash val="solid"/>
              <a:round/>
            </a:ln>
          </p:spPr>
        </p:sp>
        <p:sp>
          <p:nvSpPr>
            <p:cNvPr id="10" name="TextBox 10"/>
            <p:cNvSpPr txBox="1"/>
            <p:nvPr/>
          </p:nvSpPr>
          <p:spPr>
            <a:xfrm>
              <a:off x="0" y="-38100"/>
              <a:ext cx="1203838" cy="1121833"/>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5786230" y="7459293"/>
            <a:ext cx="4669738" cy="2452687"/>
            <a:chOff x="0" y="0"/>
            <a:chExt cx="1229890" cy="645975"/>
          </a:xfrm>
        </p:grpSpPr>
        <p:sp>
          <p:nvSpPr>
            <p:cNvPr id="12" name="Freeform 12"/>
            <p:cNvSpPr/>
            <p:nvPr/>
          </p:nvSpPr>
          <p:spPr>
            <a:xfrm>
              <a:off x="0" y="0"/>
              <a:ext cx="1229890" cy="645975"/>
            </a:xfrm>
            <a:custGeom>
              <a:avLst/>
              <a:gdLst/>
              <a:ahLst/>
              <a:cxnLst/>
              <a:rect l="l" t="t" r="r" b="b"/>
              <a:pathLst>
                <a:path w="1229890" h="645975">
                  <a:moveTo>
                    <a:pt x="84552" y="0"/>
                  </a:moveTo>
                  <a:lnTo>
                    <a:pt x="1145337" y="0"/>
                  </a:lnTo>
                  <a:cubicBezTo>
                    <a:pt x="1167762" y="0"/>
                    <a:pt x="1189268" y="8908"/>
                    <a:pt x="1205125" y="24765"/>
                  </a:cubicBezTo>
                  <a:cubicBezTo>
                    <a:pt x="1220982" y="40622"/>
                    <a:pt x="1229890" y="62128"/>
                    <a:pt x="1229890" y="84552"/>
                  </a:cubicBezTo>
                  <a:lnTo>
                    <a:pt x="1229890" y="561423"/>
                  </a:lnTo>
                  <a:cubicBezTo>
                    <a:pt x="1229890" y="583848"/>
                    <a:pt x="1220982" y="605354"/>
                    <a:pt x="1205125" y="621210"/>
                  </a:cubicBezTo>
                  <a:cubicBezTo>
                    <a:pt x="1189268" y="637067"/>
                    <a:pt x="1167762" y="645975"/>
                    <a:pt x="1145337" y="645975"/>
                  </a:cubicBezTo>
                  <a:lnTo>
                    <a:pt x="84552" y="645975"/>
                  </a:lnTo>
                  <a:cubicBezTo>
                    <a:pt x="62128" y="645975"/>
                    <a:pt x="40622" y="637067"/>
                    <a:pt x="24765" y="621210"/>
                  </a:cubicBezTo>
                  <a:cubicBezTo>
                    <a:pt x="8908" y="605354"/>
                    <a:pt x="0" y="583848"/>
                    <a:pt x="0" y="561423"/>
                  </a:cubicBezTo>
                  <a:lnTo>
                    <a:pt x="0" y="84552"/>
                  </a:lnTo>
                  <a:cubicBezTo>
                    <a:pt x="0" y="62128"/>
                    <a:pt x="8908" y="40622"/>
                    <a:pt x="24765" y="24765"/>
                  </a:cubicBezTo>
                  <a:cubicBezTo>
                    <a:pt x="40622" y="8908"/>
                    <a:pt x="62128" y="0"/>
                    <a:pt x="84552" y="0"/>
                  </a:cubicBezTo>
                  <a:close/>
                </a:path>
              </a:pathLst>
            </a:custGeom>
            <a:solidFill>
              <a:srgbClr val="FFFFFF">
                <a:alpha val="49804"/>
              </a:srgbClr>
            </a:solidFill>
            <a:ln w="47625" cap="rnd">
              <a:solidFill>
                <a:srgbClr val="3780C0">
                  <a:alpha val="49804"/>
                </a:srgbClr>
              </a:solidFill>
              <a:prstDash val="solid"/>
              <a:round/>
            </a:ln>
          </p:spPr>
        </p:sp>
        <p:sp>
          <p:nvSpPr>
            <p:cNvPr id="13" name="TextBox 13"/>
            <p:cNvSpPr txBox="1"/>
            <p:nvPr/>
          </p:nvSpPr>
          <p:spPr>
            <a:xfrm>
              <a:off x="0" y="-38100"/>
              <a:ext cx="1229890" cy="684075"/>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8318979" y="5197809"/>
            <a:ext cx="4669738" cy="2059430"/>
            <a:chOff x="0" y="0"/>
            <a:chExt cx="1229890" cy="542401"/>
          </a:xfrm>
        </p:grpSpPr>
        <p:sp>
          <p:nvSpPr>
            <p:cNvPr id="15" name="Freeform 15"/>
            <p:cNvSpPr/>
            <p:nvPr/>
          </p:nvSpPr>
          <p:spPr>
            <a:xfrm>
              <a:off x="0" y="0"/>
              <a:ext cx="1229890" cy="542401"/>
            </a:xfrm>
            <a:custGeom>
              <a:avLst/>
              <a:gdLst/>
              <a:ahLst/>
              <a:cxnLst/>
              <a:rect l="l" t="t" r="r" b="b"/>
              <a:pathLst>
                <a:path w="1229890" h="542401">
                  <a:moveTo>
                    <a:pt x="84552" y="0"/>
                  </a:moveTo>
                  <a:lnTo>
                    <a:pt x="1145337" y="0"/>
                  </a:lnTo>
                  <a:cubicBezTo>
                    <a:pt x="1167762" y="0"/>
                    <a:pt x="1189268" y="8908"/>
                    <a:pt x="1205125" y="24765"/>
                  </a:cubicBezTo>
                  <a:cubicBezTo>
                    <a:pt x="1220982" y="40622"/>
                    <a:pt x="1229890" y="62128"/>
                    <a:pt x="1229890" y="84552"/>
                  </a:cubicBezTo>
                  <a:lnTo>
                    <a:pt x="1229890" y="457849"/>
                  </a:lnTo>
                  <a:cubicBezTo>
                    <a:pt x="1229890" y="480273"/>
                    <a:pt x="1220982" y="501780"/>
                    <a:pt x="1205125" y="517636"/>
                  </a:cubicBezTo>
                  <a:cubicBezTo>
                    <a:pt x="1189268" y="533493"/>
                    <a:pt x="1167762" y="542401"/>
                    <a:pt x="1145337" y="542401"/>
                  </a:cubicBezTo>
                  <a:lnTo>
                    <a:pt x="84552" y="542401"/>
                  </a:lnTo>
                  <a:cubicBezTo>
                    <a:pt x="62128" y="542401"/>
                    <a:pt x="40622" y="533493"/>
                    <a:pt x="24765" y="517636"/>
                  </a:cubicBezTo>
                  <a:cubicBezTo>
                    <a:pt x="8908" y="501780"/>
                    <a:pt x="0" y="480273"/>
                    <a:pt x="0" y="457849"/>
                  </a:cubicBezTo>
                  <a:lnTo>
                    <a:pt x="0" y="84552"/>
                  </a:lnTo>
                  <a:cubicBezTo>
                    <a:pt x="0" y="62128"/>
                    <a:pt x="8908" y="40622"/>
                    <a:pt x="24765" y="24765"/>
                  </a:cubicBezTo>
                  <a:cubicBezTo>
                    <a:pt x="40622" y="8908"/>
                    <a:pt x="62128" y="0"/>
                    <a:pt x="84552" y="0"/>
                  </a:cubicBezTo>
                  <a:close/>
                </a:path>
              </a:pathLst>
            </a:custGeom>
            <a:solidFill>
              <a:srgbClr val="FFFFFF">
                <a:alpha val="49804"/>
              </a:srgbClr>
            </a:solidFill>
            <a:ln w="47625" cap="rnd">
              <a:solidFill>
                <a:srgbClr val="3780C0">
                  <a:alpha val="49804"/>
                </a:srgbClr>
              </a:solidFill>
              <a:prstDash val="solid"/>
              <a:round/>
            </a:ln>
          </p:spPr>
        </p:sp>
        <p:sp>
          <p:nvSpPr>
            <p:cNvPr id="16" name="TextBox 16"/>
            <p:cNvSpPr txBox="1"/>
            <p:nvPr/>
          </p:nvSpPr>
          <p:spPr>
            <a:xfrm>
              <a:off x="0" y="-38100"/>
              <a:ext cx="1229890" cy="580501"/>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0653848" y="7495364"/>
            <a:ext cx="2517988" cy="2219988"/>
            <a:chOff x="0" y="0"/>
            <a:chExt cx="663174" cy="584688"/>
          </a:xfrm>
        </p:grpSpPr>
        <p:sp>
          <p:nvSpPr>
            <p:cNvPr id="18" name="Freeform 18"/>
            <p:cNvSpPr/>
            <p:nvPr/>
          </p:nvSpPr>
          <p:spPr>
            <a:xfrm>
              <a:off x="0" y="0"/>
              <a:ext cx="663174" cy="584688"/>
            </a:xfrm>
            <a:custGeom>
              <a:avLst/>
              <a:gdLst/>
              <a:ahLst/>
              <a:cxnLst/>
              <a:rect l="l" t="t" r="r" b="b"/>
              <a:pathLst>
                <a:path w="663174" h="584688">
                  <a:moveTo>
                    <a:pt x="156807" y="0"/>
                  </a:moveTo>
                  <a:lnTo>
                    <a:pt x="506367" y="0"/>
                  </a:lnTo>
                  <a:cubicBezTo>
                    <a:pt x="547955" y="0"/>
                    <a:pt x="587839" y="16521"/>
                    <a:pt x="617246" y="45928"/>
                  </a:cubicBezTo>
                  <a:cubicBezTo>
                    <a:pt x="646653" y="75335"/>
                    <a:pt x="663174" y="115219"/>
                    <a:pt x="663174" y="156807"/>
                  </a:cubicBezTo>
                  <a:lnTo>
                    <a:pt x="663174" y="427881"/>
                  </a:lnTo>
                  <a:cubicBezTo>
                    <a:pt x="663174" y="514483"/>
                    <a:pt x="592969" y="584688"/>
                    <a:pt x="506367" y="584688"/>
                  </a:cubicBezTo>
                  <a:lnTo>
                    <a:pt x="156807" y="584688"/>
                  </a:lnTo>
                  <a:cubicBezTo>
                    <a:pt x="70205" y="584688"/>
                    <a:pt x="0" y="514483"/>
                    <a:pt x="0" y="427881"/>
                  </a:cubicBezTo>
                  <a:lnTo>
                    <a:pt x="0" y="156807"/>
                  </a:lnTo>
                  <a:cubicBezTo>
                    <a:pt x="0" y="70205"/>
                    <a:pt x="70205" y="0"/>
                    <a:pt x="156807" y="0"/>
                  </a:cubicBezTo>
                  <a:close/>
                </a:path>
              </a:pathLst>
            </a:custGeom>
            <a:solidFill>
              <a:srgbClr val="FFFFFF">
                <a:alpha val="49804"/>
              </a:srgbClr>
            </a:solidFill>
            <a:ln w="47625" cap="rnd">
              <a:solidFill>
                <a:srgbClr val="3780C0">
                  <a:alpha val="49804"/>
                </a:srgbClr>
              </a:solidFill>
              <a:prstDash val="solid"/>
              <a:round/>
            </a:ln>
          </p:spPr>
        </p:sp>
        <p:sp>
          <p:nvSpPr>
            <p:cNvPr id="19" name="TextBox 19"/>
            <p:cNvSpPr txBox="1"/>
            <p:nvPr/>
          </p:nvSpPr>
          <p:spPr>
            <a:xfrm>
              <a:off x="0" y="-38100"/>
              <a:ext cx="663174" cy="622788"/>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5984110" y="5197809"/>
            <a:ext cx="2136988" cy="2059430"/>
            <a:chOff x="0" y="0"/>
            <a:chExt cx="562828" cy="542401"/>
          </a:xfrm>
        </p:grpSpPr>
        <p:sp>
          <p:nvSpPr>
            <p:cNvPr id="21" name="Freeform 21"/>
            <p:cNvSpPr/>
            <p:nvPr/>
          </p:nvSpPr>
          <p:spPr>
            <a:xfrm>
              <a:off x="0" y="0"/>
              <a:ext cx="562828" cy="542401"/>
            </a:xfrm>
            <a:custGeom>
              <a:avLst/>
              <a:gdLst/>
              <a:ahLst/>
              <a:cxnLst/>
              <a:rect l="l" t="t" r="r" b="b"/>
              <a:pathLst>
                <a:path w="562828" h="542401">
                  <a:moveTo>
                    <a:pt x="184764" y="0"/>
                  </a:moveTo>
                  <a:lnTo>
                    <a:pt x="378064" y="0"/>
                  </a:lnTo>
                  <a:cubicBezTo>
                    <a:pt x="480107" y="0"/>
                    <a:pt x="562828" y="82722"/>
                    <a:pt x="562828" y="184764"/>
                  </a:cubicBezTo>
                  <a:lnTo>
                    <a:pt x="562828" y="357637"/>
                  </a:lnTo>
                  <a:cubicBezTo>
                    <a:pt x="562828" y="459680"/>
                    <a:pt x="480107" y="542401"/>
                    <a:pt x="378064" y="542401"/>
                  </a:cubicBezTo>
                  <a:lnTo>
                    <a:pt x="184764" y="542401"/>
                  </a:lnTo>
                  <a:cubicBezTo>
                    <a:pt x="82722" y="542401"/>
                    <a:pt x="0" y="459680"/>
                    <a:pt x="0" y="357637"/>
                  </a:cubicBezTo>
                  <a:lnTo>
                    <a:pt x="0" y="184764"/>
                  </a:lnTo>
                  <a:cubicBezTo>
                    <a:pt x="0" y="82722"/>
                    <a:pt x="82722" y="0"/>
                    <a:pt x="184764" y="0"/>
                  </a:cubicBezTo>
                  <a:close/>
                </a:path>
              </a:pathLst>
            </a:custGeom>
            <a:solidFill>
              <a:srgbClr val="FFFFFF">
                <a:alpha val="49804"/>
              </a:srgbClr>
            </a:solidFill>
            <a:ln w="47625" cap="rnd">
              <a:solidFill>
                <a:srgbClr val="3780C0">
                  <a:alpha val="49804"/>
                </a:srgbClr>
              </a:solidFill>
              <a:prstDash val="solid"/>
              <a:round/>
            </a:ln>
          </p:spPr>
        </p:sp>
        <p:sp>
          <p:nvSpPr>
            <p:cNvPr id="22" name="TextBox 22"/>
            <p:cNvSpPr txBox="1"/>
            <p:nvPr/>
          </p:nvSpPr>
          <p:spPr>
            <a:xfrm>
              <a:off x="0" y="-38100"/>
              <a:ext cx="562828" cy="580501"/>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a:off x="13371862" y="5401893"/>
            <a:ext cx="3887438" cy="4313459"/>
            <a:chOff x="0" y="0"/>
            <a:chExt cx="1023852" cy="1136055"/>
          </a:xfrm>
        </p:grpSpPr>
        <p:sp>
          <p:nvSpPr>
            <p:cNvPr id="24" name="Freeform 24"/>
            <p:cNvSpPr/>
            <p:nvPr/>
          </p:nvSpPr>
          <p:spPr>
            <a:xfrm>
              <a:off x="0" y="0"/>
              <a:ext cx="1023852" cy="1136055"/>
            </a:xfrm>
            <a:custGeom>
              <a:avLst/>
              <a:gdLst/>
              <a:ahLst/>
              <a:cxnLst/>
              <a:rect l="l" t="t" r="r" b="b"/>
              <a:pathLst>
                <a:path w="1023852" h="1136055">
                  <a:moveTo>
                    <a:pt x="101568" y="0"/>
                  </a:moveTo>
                  <a:lnTo>
                    <a:pt x="922284" y="0"/>
                  </a:lnTo>
                  <a:cubicBezTo>
                    <a:pt x="978379" y="0"/>
                    <a:pt x="1023852" y="45473"/>
                    <a:pt x="1023852" y="101568"/>
                  </a:cubicBezTo>
                  <a:lnTo>
                    <a:pt x="1023852" y="1034487"/>
                  </a:lnTo>
                  <a:cubicBezTo>
                    <a:pt x="1023852" y="1090581"/>
                    <a:pt x="978379" y="1136055"/>
                    <a:pt x="922284" y="1136055"/>
                  </a:cubicBezTo>
                  <a:lnTo>
                    <a:pt x="101568" y="1136055"/>
                  </a:lnTo>
                  <a:cubicBezTo>
                    <a:pt x="45473" y="1136055"/>
                    <a:pt x="0" y="1090581"/>
                    <a:pt x="0" y="1034487"/>
                  </a:cubicBezTo>
                  <a:lnTo>
                    <a:pt x="0" y="101568"/>
                  </a:lnTo>
                  <a:cubicBezTo>
                    <a:pt x="0" y="45473"/>
                    <a:pt x="45473" y="0"/>
                    <a:pt x="101568" y="0"/>
                  </a:cubicBezTo>
                  <a:close/>
                </a:path>
              </a:pathLst>
            </a:custGeom>
            <a:solidFill>
              <a:srgbClr val="FFFFFF">
                <a:alpha val="49804"/>
              </a:srgbClr>
            </a:solidFill>
            <a:ln w="47625" cap="rnd">
              <a:solidFill>
                <a:srgbClr val="3780C0">
                  <a:alpha val="49804"/>
                </a:srgbClr>
              </a:solidFill>
              <a:prstDash val="solid"/>
              <a:round/>
            </a:ln>
          </p:spPr>
        </p:sp>
        <p:sp>
          <p:nvSpPr>
            <p:cNvPr id="25" name="TextBox 25"/>
            <p:cNvSpPr txBox="1"/>
            <p:nvPr/>
          </p:nvSpPr>
          <p:spPr>
            <a:xfrm>
              <a:off x="0" y="-38100"/>
              <a:ext cx="1023852" cy="1174155"/>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a:off x="5947214" y="7619530"/>
            <a:ext cx="4306584" cy="2142642"/>
            <a:chOff x="0" y="0"/>
            <a:chExt cx="880412" cy="438029"/>
          </a:xfrm>
        </p:grpSpPr>
        <p:sp>
          <p:nvSpPr>
            <p:cNvPr id="27" name="Freeform 27"/>
            <p:cNvSpPr/>
            <p:nvPr/>
          </p:nvSpPr>
          <p:spPr>
            <a:xfrm>
              <a:off x="0" y="0"/>
              <a:ext cx="880412" cy="438029"/>
            </a:xfrm>
            <a:custGeom>
              <a:avLst/>
              <a:gdLst/>
              <a:ahLst/>
              <a:cxnLst/>
              <a:rect l="l" t="t" r="r" b="b"/>
              <a:pathLst>
                <a:path w="880412" h="438029">
                  <a:moveTo>
                    <a:pt x="80896" y="0"/>
                  </a:moveTo>
                  <a:lnTo>
                    <a:pt x="799515" y="0"/>
                  </a:lnTo>
                  <a:cubicBezTo>
                    <a:pt x="820970" y="0"/>
                    <a:pt x="841547" y="8523"/>
                    <a:pt x="856718" y="23694"/>
                  </a:cubicBezTo>
                  <a:cubicBezTo>
                    <a:pt x="871889" y="38865"/>
                    <a:pt x="880412" y="59441"/>
                    <a:pt x="880412" y="80896"/>
                  </a:cubicBezTo>
                  <a:lnTo>
                    <a:pt x="880412" y="357132"/>
                  </a:lnTo>
                  <a:cubicBezTo>
                    <a:pt x="880412" y="378587"/>
                    <a:pt x="871889" y="399164"/>
                    <a:pt x="856718" y="414335"/>
                  </a:cubicBezTo>
                  <a:cubicBezTo>
                    <a:pt x="841547" y="429506"/>
                    <a:pt x="820970" y="438029"/>
                    <a:pt x="799515" y="438029"/>
                  </a:cubicBezTo>
                  <a:lnTo>
                    <a:pt x="80896" y="438029"/>
                  </a:lnTo>
                  <a:cubicBezTo>
                    <a:pt x="59441" y="438029"/>
                    <a:pt x="38865" y="429506"/>
                    <a:pt x="23694" y="414335"/>
                  </a:cubicBezTo>
                  <a:cubicBezTo>
                    <a:pt x="8523" y="399164"/>
                    <a:pt x="0" y="378587"/>
                    <a:pt x="0" y="357132"/>
                  </a:cubicBezTo>
                  <a:lnTo>
                    <a:pt x="0" y="80896"/>
                  </a:lnTo>
                  <a:cubicBezTo>
                    <a:pt x="0" y="59441"/>
                    <a:pt x="8523" y="38865"/>
                    <a:pt x="23694" y="23694"/>
                  </a:cubicBezTo>
                  <a:cubicBezTo>
                    <a:pt x="38865" y="8523"/>
                    <a:pt x="59441" y="0"/>
                    <a:pt x="80896" y="0"/>
                  </a:cubicBezTo>
                  <a:close/>
                </a:path>
              </a:pathLst>
            </a:custGeom>
            <a:blipFill>
              <a:blip r:embed="rId5"/>
              <a:stretch>
                <a:fillRect t="-16956" b="-16956"/>
              </a:stretch>
            </a:blipFill>
          </p:spPr>
        </p:sp>
      </p:grpSp>
      <p:grpSp>
        <p:nvGrpSpPr>
          <p:cNvPr id="28" name="Group 28"/>
          <p:cNvGrpSpPr/>
          <p:nvPr/>
        </p:nvGrpSpPr>
        <p:grpSpPr>
          <a:xfrm>
            <a:off x="1028700" y="2004922"/>
            <a:ext cx="5048675" cy="3075663"/>
            <a:chOff x="0" y="0"/>
            <a:chExt cx="1329692" cy="810051"/>
          </a:xfrm>
        </p:grpSpPr>
        <p:sp>
          <p:nvSpPr>
            <p:cNvPr id="29" name="Freeform 29"/>
            <p:cNvSpPr/>
            <p:nvPr/>
          </p:nvSpPr>
          <p:spPr>
            <a:xfrm>
              <a:off x="0" y="0"/>
              <a:ext cx="1329692" cy="810051"/>
            </a:xfrm>
            <a:custGeom>
              <a:avLst/>
              <a:gdLst/>
              <a:ahLst/>
              <a:cxnLst/>
              <a:rect l="l" t="t" r="r" b="b"/>
              <a:pathLst>
                <a:path w="1329692" h="810051">
                  <a:moveTo>
                    <a:pt x="78206" y="0"/>
                  </a:moveTo>
                  <a:lnTo>
                    <a:pt x="1251486" y="0"/>
                  </a:lnTo>
                  <a:cubicBezTo>
                    <a:pt x="1294678" y="0"/>
                    <a:pt x="1329692" y="35014"/>
                    <a:pt x="1329692" y="78206"/>
                  </a:cubicBezTo>
                  <a:lnTo>
                    <a:pt x="1329692" y="731845"/>
                  </a:lnTo>
                  <a:cubicBezTo>
                    <a:pt x="1329692" y="752586"/>
                    <a:pt x="1321453" y="772478"/>
                    <a:pt x="1306786" y="787145"/>
                  </a:cubicBezTo>
                  <a:cubicBezTo>
                    <a:pt x="1292120" y="801812"/>
                    <a:pt x="1272228" y="810051"/>
                    <a:pt x="1251486" y="810051"/>
                  </a:cubicBezTo>
                  <a:lnTo>
                    <a:pt x="78206" y="810051"/>
                  </a:lnTo>
                  <a:cubicBezTo>
                    <a:pt x="57465" y="810051"/>
                    <a:pt x="37573" y="801812"/>
                    <a:pt x="22906" y="787145"/>
                  </a:cubicBezTo>
                  <a:cubicBezTo>
                    <a:pt x="8240" y="772478"/>
                    <a:pt x="0" y="752586"/>
                    <a:pt x="0" y="731845"/>
                  </a:cubicBezTo>
                  <a:lnTo>
                    <a:pt x="0" y="78206"/>
                  </a:lnTo>
                  <a:cubicBezTo>
                    <a:pt x="0" y="57465"/>
                    <a:pt x="8240" y="37573"/>
                    <a:pt x="22906" y="22906"/>
                  </a:cubicBezTo>
                  <a:cubicBezTo>
                    <a:pt x="37573" y="8240"/>
                    <a:pt x="57465" y="0"/>
                    <a:pt x="78206" y="0"/>
                  </a:cubicBezTo>
                  <a:close/>
                </a:path>
              </a:pathLst>
            </a:custGeom>
            <a:solidFill>
              <a:srgbClr val="FFFFFF">
                <a:alpha val="49804"/>
              </a:srgbClr>
            </a:solidFill>
            <a:ln w="47625" cap="rnd">
              <a:solidFill>
                <a:srgbClr val="3780C0">
                  <a:alpha val="49804"/>
                </a:srgbClr>
              </a:solidFill>
              <a:prstDash val="solid"/>
              <a:round/>
            </a:ln>
          </p:spPr>
        </p:sp>
        <p:sp>
          <p:nvSpPr>
            <p:cNvPr id="30" name="TextBox 30"/>
            <p:cNvSpPr txBox="1"/>
            <p:nvPr/>
          </p:nvSpPr>
          <p:spPr>
            <a:xfrm>
              <a:off x="0" y="-76200"/>
              <a:ext cx="1329692" cy="886251"/>
            </a:xfrm>
            <a:prstGeom prst="rect">
              <a:avLst/>
            </a:prstGeom>
          </p:spPr>
          <p:txBody>
            <a:bodyPr lIns="50800" tIns="50800" rIns="50800" bIns="50800" rtlCol="0" anchor="ctr"/>
            <a:lstStyle/>
            <a:p>
              <a:pPr algn="ctr">
                <a:lnSpc>
                  <a:spcPts val="3919"/>
                </a:lnSpc>
                <a:spcBef>
                  <a:spcPct val="0"/>
                </a:spcBef>
              </a:pPr>
              <a:endParaRPr/>
            </a:p>
          </p:txBody>
        </p:sp>
      </p:grpSp>
      <p:grpSp>
        <p:nvGrpSpPr>
          <p:cNvPr id="31" name="Group 31"/>
          <p:cNvGrpSpPr/>
          <p:nvPr/>
        </p:nvGrpSpPr>
        <p:grpSpPr>
          <a:xfrm>
            <a:off x="10814208" y="1988753"/>
            <a:ext cx="6445092" cy="2907097"/>
            <a:chOff x="0" y="0"/>
            <a:chExt cx="1697473" cy="765655"/>
          </a:xfrm>
        </p:grpSpPr>
        <p:sp>
          <p:nvSpPr>
            <p:cNvPr id="32" name="Freeform 32"/>
            <p:cNvSpPr/>
            <p:nvPr/>
          </p:nvSpPr>
          <p:spPr>
            <a:xfrm>
              <a:off x="0" y="0"/>
              <a:ext cx="1697473" cy="765655"/>
            </a:xfrm>
            <a:custGeom>
              <a:avLst/>
              <a:gdLst/>
              <a:ahLst/>
              <a:cxnLst/>
              <a:rect l="l" t="t" r="r" b="b"/>
              <a:pathLst>
                <a:path w="1697473" h="765655">
                  <a:moveTo>
                    <a:pt x="61262" y="0"/>
                  </a:moveTo>
                  <a:lnTo>
                    <a:pt x="1636211" y="0"/>
                  </a:lnTo>
                  <a:cubicBezTo>
                    <a:pt x="1652459" y="0"/>
                    <a:pt x="1668041" y="6454"/>
                    <a:pt x="1679530" y="17943"/>
                  </a:cubicBezTo>
                  <a:cubicBezTo>
                    <a:pt x="1691018" y="29432"/>
                    <a:pt x="1697473" y="45014"/>
                    <a:pt x="1697473" y="61262"/>
                  </a:cubicBezTo>
                  <a:lnTo>
                    <a:pt x="1697473" y="704393"/>
                  </a:lnTo>
                  <a:cubicBezTo>
                    <a:pt x="1697473" y="738227"/>
                    <a:pt x="1670045" y="765655"/>
                    <a:pt x="1636211" y="765655"/>
                  </a:cubicBezTo>
                  <a:lnTo>
                    <a:pt x="61262" y="765655"/>
                  </a:lnTo>
                  <a:cubicBezTo>
                    <a:pt x="45014" y="765655"/>
                    <a:pt x="29432" y="759201"/>
                    <a:pt x="17943" y="747712"/>
                  </a:cubicBezTo>
                  <a:cubicBezTo>
                    <a:pt x="6454" y="736223"/>
                    <a:pt x="0" y="720641"/>
                    <a:pt x="0" y="704393"/>
                  </a:cubicBezTo>
                  <a:lnTo>
                    <a:pt x="0" y="61262"/>
                  </a:lnTo>
                  <a:cubicBezTo>
                    <a:pt x="0" y="45014"/>
                    <a:pt x="6454" y="29432"/>
                    <a:pt x="17943" y="17943"/>
                  </a:cubicBezTo>
                  <a:cubicBezTo>
                    <a:pt x="29432" y="6454"/>
                    <a:pt x="45014" y="0"/>
                    <a:pt x="61262" y="0"/>
                  </a:cubicBezTo>
                  <a:close/>
                </a:path>
              </a:pathLst>
            </a:custGeom>
            <a:solidFill>
              <a:srgbClr val="FFFFFF">
                <a:alpha val="49804"/>
              </a:srgbClr>
            </a:solidFill>
            <a:ln w="47625" cap="rnd">
              <a:solidFill>
                <a:srgbClr val="3780C0">
                  <a:alpha val="49804"/>
                </a:srgbClr>
              </a:solidFill>
              <a:prstDash val="solid"/>
              <a:round/>
            </a:ln>
          </p:spPr>
        </p:sp>
        <p:sp>
          <p:nvSpPr>
            <p:cNvPr id="33" name="TextBox 33"/>
            <p:cNvSpPr txBox="1"/>
            <p:nvPr/>
          </p:nvSpPr>
          <p:spPr>
            <a:xfrm>
              <a:off x="0" y="-38100"/>
              <a:ext cx="1697473" cy="803755"/>
            </a:xfrm>
            <a:prstGeom prst="rect">
              <a:avLst/>
            </a:prstGeom>
          </p:spPr>
          <p:txBody>
            <a:bodyPr lIns="50800" tIns="50800" rIns="50800" bIns="50800" rtlCol="0" anchor="ctr"/>
            <a:lstStyle/>
            <a:p>
              <a:pPr algn="ctr">
                <a:lnSpc>
                  <a:spcPts val="2659"/>
                </a:lnSpc>
                <a:spcBef>
                  <a:spcPct val="0"/>
                </a:spcBef>
              </a:pPr>
              <a:endParaRPr/>
            </a:p>
          </p:txBody>
        </p:sp>
      </p:grpSp>
      <p:sp>
        <p:nvSpPr>
          <p:cNvPr id="34" name="Freeform 34"/>
          <p:cNvSpPr/>
          <p:nvPr/>
        </p:nvSpPr>
        <p:spPr>
          <a:xfrm>
            <a:off x="6075670" y="5361833"/>
            <a:ext cx="1953869" cy="1731382"/>
          </a:xfrm>
          <a:prstGeom prst="roundRect">
            <a:avLst/>
          </a:prstGeom>
          <a:blipFill>
            <a:blip r:embed="rId6"/>
            <a:stretch>
              <a:fillRect l="-17286" t="-3373" r="-20202"/>
            </a:stretch>
          </a:blipFill>
        </p:spPr>
      </p:sp>
      <p:sp>
        <p:nvSpPr>
          <p:cNvPr id="35" name="Freeform 35"/>
          <p:cNvSpPr/>
          <p:nvPr/>
        </p:nvSpPr>
        <p:spPr>
          <a:xfrm>
            <a:off x="8441967" y="5359734"/>
            <a:ext cx="4423762" cy="1733481"/>
          </a:xfrm>
          <a:prstGeom prst="roundRect">
            <a:avLst/>
          </a:prstGeom>
          <a:blipFill>
            <a:blip r:embed="rId7"/>
            <a:stretch>
              <a:fillRect t="-53294" b="-16729"/>
            </a:stretch>
          </a:blipFill>
        </p:spPr>
      </p:sp>
      <p:sp>
        <p:nvSpPr>
          <p:cNvPr id="36" name="Freeform 36"/>
          <p:cNvSpPr/>
          <p:nvPr/>
        </p:nvSpPr>
        <p:spPr>
          <a:xfrm>
            <a:off x="10778705" y="7645208"/>
            <a:ext cx="2270420" cy="1920299"/>
          </a:xfrm>
          <a:prstGeom prst="roundRect">
            <a:avLst/>
          </a:prstGeom>
          <a:blipFill>
            <a:blip r:embed="rId8"/>
            <a:stretch>
              <a:fillRect l="-65123" t="-44707" r="-44084" b="-20090"/>
            </a:stretch>
          </a:blipFill>
        </p:spPr>
      </p:sp>
      <p:sp>
        <p:nvSpPr>
          <p:cNvPr id="37" name="Freeform 37"/>
          <p:cNvSpPr/>
          <p:nvPr/>
        </p:nvSpPr>
        <p:spPr>
          <a:xfrm>
            <a:off x="10950146" y="2213821"/>
            <a:ext cx="6173217" cy="2476932"/>
          </a:xfrm>
          <a:prstGeom prst="roundRect">
            <a:avLst/>
          </a:prstGeom>
          <a:blipFill>
            <a:blip r:embed="rId9"/>
            <a:stretch>
              <a:fillRect t="-66048"/>
            </a:stretch>
          </a:blipFill>
        </p:spPr>
      </p:sp>
      <p:sp>
        <p:nvSpPr>
          <p:cNvPr id="38" name="Freeform 38"/>
          <p:cNvSpPr/>
          <p:nvPr/>
        </p:nvSpPr>
        <p:spPr>
          <a:xfrm>
            <a:off x="13538835" y="5674187"/>
            <a:ext cx="3572188" cy="3642354"/>
          </a:xfrm>
          <a:prstGeom prst="roundRect">
            <a:avLst/>
          </a:prstGeom>
          <a:blipFill>
            <a:blip r:embed="rId10"/>
            <a:stretch>
              <a:fillRect l="-30566" r="-22475"/>
            </a:stretch>
          </a:blipFill>
        </p:spPr>
      </p:sp>
      <p:grpSp>
        <p:nvGrpSpPr>
          <p:cNvPr id="39" name="Group 39"/>
          <p:cNvGrpSpPr/>
          <p:nvPr/>
        </p:nvGrpSpPr>
        <p:grpSpPr>
          <a:xfrm>
            <a:off x="6305975" y="2004922"/>
            <a:ext cx="4347873" cy="2992862"/>
            <a:chOff x="0" y="0"/>
            <a:chExt cx="1145119" cy="788243"/>
          </a:xfrm>
        </p:grpSpPr>
        <p:sp>
          <p:nvSpPr>
            <p:cNvPr id="40" name="Freeform 40"/>
            <p:cNvSpPr/>
            <p:nvPr/>
          </p:nvSpPr>
          <p:spPr>
            <a:xfrm>
              <a:off x="0" y="0"/>
              <a:ext cx="1145119" cy="788243"/>
            </a:xfrm>
            <a:custGeom>
              <a:avLst/>
              <a:gdLst/>
              <a:ahLst/>
              <a:cxnLst/>
              <a:rect l="l" t="t" r="r" b="b"/>
              <a:pathLst>
                <a:path w="1145119" h="788243">
                  <a:moveTo>
                    <a:pt x="90812" y="0"/>
                  </a:moveTo>
                  <a:lnTo>
                    <a:pt x="1054307" y="0"/>
                  </a:lnTo>
                  <a:cubicBezTo>
                    <a:pt x="1078392" y="0"/>
                    <a:pt x="1101490" y="9568"/>
                    <a:pt x="1118521" y="26598"/>
                  </a:cubicBezTo>
                  <a:cubicBezTo>
                    <a:pt x="1135551" y="43629"/>
                    <a:pt x="1145119" y="66727"/>
                    <a:pt x="1145119" y="90812"/>
                  </a:cubicBezTo>
                  <a:lnTo>
                    <a:pt x="1145119" y="697432"/>
                  </a:lnTo>
                  <a:cubicBezTo>
                    <a:pt x="1145119" y="721516"/>
                    <a:pt x="1135551" y="744615"/>
                    <a:pt x="1118521" y="761645"/>
                  </a:cubicBezTo>
                  <a:cubicBezTo>
                    <a:pt x="1101490" y="778676"/>
                    <a:pt x="1078392" y="788243"/>
                    <a:pt x="1054307" y="788243"/>
                  </a:cubicBezTo>
                  <a:lnTo>
                    <a:pt x="90812" y="788243"/>
                  </a:lnTo>
                  <a:cubicBezTo>
                    <a:pt x="66727" y="788243"/>
                    <a:pt x="43629" y="778676"/>
                    <a:pt x="26598" y="761645"/>
                  </a:cubicBezTo>
                  <a:cubicBezTo>
                    <a:pt x="9568" y="744615"/>
                    <a:pt x="0" y="721516"/>
                    <a:pt x="0" y="697432"/>
                  </a:cubicBezTo>
                  <a:lnTo>
                    <a:pt x="0" y="90812"/>
                  </a:lnTo>
                  <a:cubicBezTo>
                    <a:pt x="0" y="66727"/>
                    <a:pt x="9568" y="43629"/>
                    <a:pt x="26598" y="26598"/>
                  </a:cubicBezTo>
                  <a:cubicBezTo>
                    <a:pt x="43629" y="9568"/>
                    <a:pt x="66727" y="0"/>
                    <a:pt x="90812" y="0"/>
                  </a:cubicBezTo>
                  <a:close/>
                </a:path>
              </a:pathLst>
            </a:custGeom>
            <a:solidFill>
              <a:srgbClr val="FFFFFF">
                <a:alpha val="49804"/>
              </a:srgbClr>
            </a:solidFill>
            <a:ln w="47625" cap="rnd">
              <a:solidFill>
                <a:srgbClr val="3780C0">
                  <a:alpha val="49804"/>
                </a:srgbClr>
              </a:solidFill>
              <a:prstDash val="solid"/>
              <a:round/>
            </a:ln>
          </p:spPr>
        </p:sp>
        <p:sp>
          <p:nvSpPr>
            <p:cNvPr id="41" name="TextBox 41"/>
            <p:cNvSpPr txBox="1"/>
            <p:nvPr/>
          </p:nvSpPr>
          <p:spPr>
            <a:xfrm>
              <a:off x="0" y="-38100"/>
              <a:ext cx="1145119" cy="826343"/>
            </a:xfrm>
            <a:prstGeom prst="rect">
              <a:avLst/>
            </a:prstGeom>
          </p:spPr>
          <p:txBody>
            <a:bodyPr lIns="50800" tIns="50800" rIns="50800" bIns="50800" rtlCol="0" anchor="ctr"/>
            <a:lstStyle/>
            <a:p>
              <a:pPr algn="ctr">
                <a:lnSpc>
                  <a:spcPts val="2659"/>
                </a:lnSpc>
                <a:spcBef>
                  <a:spcPct val="0"/>
                </a:spcBef>
              </a:pPr>
              <a:endParaRPr/>
            </a:p>
          </p:txBody>
        </p:sp>
      </p:grpSp>
      <p:sp>
        <p:nvSpPr>
          <p:cNvPr id="42" name="Freeform 42"/>
          <p:cNvSpPr/>
          <p:nvPr/>
        </p:nvSpPr>
        <p:spPr>
          <a:xfrm>
            <a:off x="6568850" y="2171700"/>
            <a:ext cx="3822123" cy="2652111"/>
          </a:xfrm>
          <a:prstGeom prst="roundRect">
            <a:avLst/>
          </a:prstGeom>
          <a:blipFill>
            <a:blip r:embed="rId11"/>
            <a:stretch>
              <a:fillRect t="-16297" r="-21121"/>
            </a:stretch>
          </a:blipFill>
        </p:spPr>
      </p:sp>
      <p:sp>
        <p:nvSpPr>
          <p:cNvPr id="43" name="Freeform 43"/>
          <p:cNvSpPr/>
          <p:nvPr/>
        </p:nvSpPr>
        <p:spPr>
          <a:xfrm>
            <a:off x="1168579" y="5739449"/>
            <a:ext cx="4264426" cy="3439689"/>
          </a:xfrm>
          <a:prstGeom prst="roundRect">
            <a:avLst/>
          </a:prstGeom>
          <a:blipFill>
            <a:blip r:embed="rId12"/>
            <a:stretch>
              <a:fillRect l="-58904" t="-45064" r="-16718"/>
            </a:stretch>
          </a:blipFill>
        </p:spPr>
      </p:sp>
      <p:sp>
        <p:nvSpPr>
          <p:cNvPr id="44" name="TextBox 44"/>
          <p:cNvSpPr txBox="1"/>
          <p:nvPr/>
        </p:nvSpPr>
        <p:spPr>
          <a:xfrm>
            <a:off x="3047999" y="989002"/>
            <a:ext cx="12573001" cy="961802"/>
          </a:xfrm>
          <a:prstGeom prst="rect">
            <a:avLst/>
          </a:prstGeom>
        </p:spPr>
        <p:txBody>
          <a:bodyPr wrap="square" lIns="0" tIns="0" rIns="0" bIns="0" rtlCol="0" anchor="t">
            <a:spAutoFit/>
          </a:bodyPr>
          <a:lstStyle/>
          <a:p>
            <a:pPr algn="l">
              <a:lnSpc>
                <a:spcPts val="6750"/>
              </a:lnSpc>
            </a:pPr>
            <a:r>
              <a:rPr lang="en-US" sz="8000" spc="-630" dirty="0" err="1">
                <a:solidFill>
                  <a:schemeClr val="accent1">
                    <a:lumMod val="50000"/>
                  </a:schemeClr>
                </a:solidFill>
                <a:latin typeface="Bungee"/>
                <a:ea typeface="Bungee"/>
                <a:cs typeface="Bungee"/>
                <a:sym typeface="Bungee"/>
              </a:rPr>
              <a:t>Các</a:t>
            </a:r>
            <a:r>
              <a:rPr lang="en-US" sz="8000" spc="-630" dirty="0">
                <a:solidFill>
                  <a:schemeClr val="accent1">
                    <a:lumMod val="50000"/>
                  </a:schemeClr>
                </a:solidFill>
                <a:latin typeface="Bungee"/>
                <a:ea typeface="Bungee"/>
                <a:cs typeface="Bungee"/>
                <a:sym typeface="Bungee"/>
              </a:rPr>
              <a:t>  </a:t>
            </a:r>
            <a:r>
              <a:rPr lang="en-US" sz="8000" spc="-630" dirty="0" err="1">
                <a:solidFill>
                  <a:schemeClr val="accent1">
                    <a:lumMod val="50000"/>
                  </a:schemeClr>
                </a:solidFill>
                <a:latin typeface="Bungee"/>
                <a:ea typeface="Bungee"/>
                <a:cs typeface="Bungee"/>
                <a:sym typeface="Bungee"/>
              </a:rPr>
              <a:t>hoạt</a:t>
            </a:r>
            <a:r>
              <a:rPr lang="en-US" sz="8000" spc="-630" dirty="0">
                <a:solidFill>
                  <a:schemeClr val="accent1">
                    <a:lumMod val="50000"/>
                  </a:schemeClr>
                </a:solidFill>
                <a:latin typeface="Bungee"/>
                <a:ea typeface="Bungee"/>
                <a:cs typeface="Bungee"/>
                <a:sym typeface="Bungee"/>
              </a:rPr>
              <a:t> </a:t>
            </a:r>
            <a:r>
              <a:rPr lang="en-US" sz="8000" spc="-630" dirty="0" err="1">
                <a:solidFill>
                  <a:schemeClr val="accent1">
                    <a:lumMod val="50000"/>
                  </a:schemeClr>
                </a:solidFill>
                <a:latin typeface="Bungee"/>
                <a:ea typeface="Bungee"/>
                <a:cs typeface="Bungee"/>
                <a:sym typeface="Bungee"/>
              </a:rPr>
              <a:t>động</a:t>
            </a:r>
            <a:r>
              <a:rPr lang="en-US" sz="8000" spc="-630" dirty="0">
                <a:solidFill>
                  <a:schemeClr val="accent1">
                    <a:lumMod val="50000"/>
                  </a:schemeClr>
                </a:solidFill>
                <a:latin typeface="Bungee"/>
                <a:ea typeface="Bungee"/>
                <a:cs typeface="Bungee"/>
                <a:sym typeface="Bungee"/>
              </a:rPr>
              <a:t> </a:t>
            </a:r>
            <a:r>
              <a:rPr lang="en-US" sz="8000" spc="-630" dirty="0" err="1">
                <a:solidFill>
                  <a:schemeClr val="accent1">
                    <a:lumMod val="50000"/>
                  </a:schemeClr>
                </a:solidFill>
                <a:latin typeface="Bungee"/>
                <a:ea typeface="Bungee"/>
                <a:cs typeface="Bungee"/>
                <a:sym typeface="Bungee"/>
              </a:rPr>
              <a:t>nổi</a:t>
            </a:r>
            <a:r>
              <a:rPr lang="en-US" sz="8000" spc="-630" dirty="0">
                <a:solidFill>
                  <a:schemeClr val="accent1">
                    <a:lumMod val="50000"/>
                  </a:schemeClr>
                </a:solidFill>
                <a:latin typeface="Bungee"/>
                <a:ea typeface="Bungee"/>
                <a:cs typeface="Bungee"/>
                <a:sym typeface="Bungee"/>
              </a:rPr>
              <a:t> </a:t>
            </a:r>
            <a:r>
              <a:rPr lang="en-US" sz="8000" spc="-630" dirty="0" err="1">
                <a:solidFill>
                  <a:schemeClr val="accent1">
                    <a:lumMod val="50000"/>
                  </a:schemeClr>
                </a:solidFill>
                <a:latin typeface="Bungee"/>
                <a:ea typeface="Bungee"/>
                <a:cs typeface="Bungee"/>
                <a:sym typeface="Bungee"/>
              </a:rPr>
              <a:t>bật</a:t>
            </a:r>
            <a:endParaRPr lang="en-US" sz="8000" spc="-630" dirty="0">
              <a:solidFill>
                <a:schemeClr val="accent1">
                  <a:lumMod val="50000"/>
                </a:schemeClr>
              </a:solidFill>
              <a:latin typeface="Bungee"/>
              <a:ea typeface="Bungee"/>
              <a:cs typeface="Bungee"/>
              <a:sym typeface="Bungee"/>
            </a:endParaRPr>
          </a:p>
        </p:txBody>
      </p:sp>
      <p:sp>
        <p:nvSpPr>
          <p:cNvPr id="45" name="TextBox 45"/>
          <p:cNvSpPr txBox="1"/>
          <p:nvPr/>
        </p:nvSpPr>
        <p:spPr>
          <a:xfrm>
            <a:off x="1222683" y="2128096"/>
            <a:ext cx="4852987" cy="2767754"/>
          </a:xfrm>
          <a:prstGeom prst="rect">
            <a:avLst/>
          </a:prstGeom>
        </p:spPr>
        <p:txBody>
          <a:bodyPr lIns="0" tIns="0" rIns="0" bIns="0" rtlCol="0" anchor="t">
            <a:spAutoFit/>
          </a:bodyPr>
          <a:lstStyle/>
          <a:p>
            <a:pPr algn="just">
              <a:lnSpc>
                <a:spcPts val="4421"/>
              </a:lnSpc>
            </a:pPr>
            <a:r>
              <a:rPr lang="en-US" sz="3158" b="1">
                <a:solidFill>
                  <a:srgbClr val="01184E"/>
                </a:solidFill>
                <a:latin typeface="Times New Roman Bold"/>
                <a:ea typeface="Times New Roman Bold"/>
                <a:cs typeface="Times New Roman Bold"/>
                <a:sym typeface="Times New Roman Bold"/>
              </a:rPr>
              <a:t>- Tết ấm yêu thương</a:t>
            </a:r>
          </a:p>
          <a:p>
            <a:pPr algn="just">
              <a:lnSpc>
                <a:spcPts val="4421"/>
              </a:lnSpc>
            </a:pPr>
            <a:r>
              <a:rPr lang="en-US" sz="3158" b="1">
                <a:solidFill>
                  <a:srgbClr val="01184E"/>
                </a:solidFill>
                <a:latin typeface="Times New Roman Bold"/>
                <a:ea typeface="Times New Roman Bold"/>
                <a:cs typeface="Times New Roman Bold"/>
                <a:sym typeface="Times New Roman Bold"/>
              </a:rPr>
              <a:t>-Tình nguyện vì cộng đồng</a:t>
            </a:r>
          </a:p>
          <a:p>
            <a:pPr algn="just">
              <a:lnSpc>
                <a:spcPts val="4421"/>
              </a:lnSpc>
            </a:pPr>
            <a:r>
              <a:rPr lang="en-US" sz="3158" b="1">
                <a:solidFill>
                  <a:srgbClr val="01184E"/>
                </a:solidFill>
                <a:latin typeface="Times New Roman Bold"/>
                <a:ea typeface="Times New Roman Bold"/>
                <a:cs typeface="Times New Roman Bold"/>
                <a:sym typeface="Times New Roman Bold"/>
              </a:rPr>
              <a:t>-Mùa hè xanh</a:t>
            </a:r>
          </a:p>
          <a:p>
            <a:pPr algn="just">
              <a:lnSpc>
                <a:spcPts val="4421"/>
              </a:lnSpc>
            </a:pPr>
            <a:r>
              <a:rPr lang="en-US" sz="3158" b="1">
                <a:solidFill>
                  <a:srgbClr val="01184E"/>
                </a:solidFill>
                <a:latin typeface="Times New Roman Bold"/>
                <a:ea typeface="Times New Roman Bold"/>
                <a:cs typeface="Times New Roman Bold"/>
                <a:sym typeface="Times New Roman Bold"/>
              </a:rPr>
              <a:t>-Đại lễ Phật Đản</a:t>
            </a:r>
          </a:p>
          <a:p>
            <a:pPr marL="0" lvl="0" indent="0" algn="just">
              <a:lnSpc>
                <a:spcPts val="4421"/>
              </a:lnSpc>
              <a:spcBef>
                <a:spcPct val="0"/>
              </a:spcBef>
            </a:pPr>
            <a:r>
              <a:rPr lang="en-US" sz="3158" b="1">
                <a:solidFill>
                  <a:srgbClr val="01184E"/>
                </a:solidFill>
                <a:latin typeface="Times New Roman Bold"/>
                <a:ea typeface="Times New Roman Bold"/>
                <a:cs typeface="Times New Roman Bold"/>
                <a:sym typeface="Times New Roman Bold"/>
              </a:rPr>
              <a:t>-Đại lễ Vu 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338</Words>
  <Application>Microsoft Office PowerPoint</Application>
  <PresentationFormat>Custom</PresentationFormat>
  <Paragraphs>30</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Bungee</vt:lpstr>
      <vt:lpstr>Calibri</vt:lpstr>
      <vt:lpstr>Times New Roman Bold</vt:lpstr>
      <vt:lpstr>Arial</vt:lpstr>
      <vt:lpstr>Poppins Bold</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CLB được thành lập mục đích mang đến một môi trường năng động, nơi sinh viên có chung niềm đam mê với các hoạt động xã hội. Đây cũng là nơi các bạn được giao lưu, học hỏi kinh nghiệm của nhau; được rèn luyện các kỹ năng cần thiết và cùng nhau tổ chức các</dc:title>
  <cp:lastModifiedBy>LAPTOP LS</cp:lastModifiedBy>
  <cp:revision>4</cp:revision>
  <dcterms:created xsi:type="dcterms:W3CDTF">2006-08-16T00:00:00Z</dcterms:created>
  <dcterms:modified xsi:type="dcterms:W3CDTF">2026-05-15T05:14:35Z</dcterms:modified>
  <dc:identifier>DAHJo_C8wnI</dc:identifier>
</cp:coreProperties>
</file>